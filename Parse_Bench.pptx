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31C30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3259836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GROUP PROJECT · LL(1) SYNTAX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5156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FFFFFF"/>
                </a:solidFill>
                <a:latin typeface="Segoe UI"/>
              </a:rPr>
              <a:t>Parse 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9D5EC"/>
                </a:solidFill>
                <a:latin typeface="Segoe UI"/>
              </a:rPr>
              <a:t>A grammar-aware syntax analyzer built on LL(1) recursive-descent parsing
with dual-tier error recovery.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29000"/>
            <a:ext cx="2084831" cy="868680"/>
          </a:xfrm>
          <a:prstGeom prst="roundRect">
            <a:avLst>
              <a:gd name="adj" fmla="val 12000"/>
            </a:avLst>
          </a:prstGeom>
          <a:solidFill>
            <a:srgbClr val="182138"/>
          </a:solidFill>
          <a:ln w="11430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3557016"/>
            <a:ext cx="181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Manav Pareek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913632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BBA"/>
                </a:solidFill>
                <a:latin typeface="Consolas"/>
              </a:rPr>
              <a:t>24BCB0004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3429000"/>
            <a:ext cx="2084831" cy="868680"/>
          </a:xfrm>
          <a:prstGeom prst="roundRect">
            <a:avLst>
              <a:gd name="adj" fmla="val 12000"/>
            </a:avLst>
          </a:prstGeom>
          <a:solidFill>
            <a:srgbClr val="182138"/>
          </a:solidFill>
          <a:ln w="11430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63824" y="3557016"/>
            <a:ext cx="181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Vishavjeet Sharma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3824" y="3913632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BBA"/>
                </a:solidFill>
                <a:latin typeface="Consolas"/>
              </a:rPr>
              <a:t>24BCE0077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3429000"/>
            <a:ext cx="2084831" cy="868680"/>
          </a:xfrm>
          <a:prstGeom prst="roundRect">
            <a:avLst>
              <a:gd name="adj" fmla="val 12000"/>
            </a:avLst>
          </a:prstGeom>
          <a:solidFill>
            <a:srgbClr val="182138"/>
          </a:solidFill>
          <a:ln w="11430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8384" y="3557016"/>
            <a:ext cx="181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Sanyam Vekariya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8384" y="3913632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BBA"/>
                </a:solidFill>
                <a:latin typeface="Consolas"/>
              </a:rPr>
              <a:t>24BCE0357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429000"/>
            <a:ext cx="2084831" cy="868680"/>
          </a:xfrm>
          <a:prstGeom prst="roundRect">
            <a:avLst>
              <a:gd name="adj" fmla="val 12000"/>
            </a:avLst>
          </a:prstGeom>
          <a:solidFill>
            <a:srgbClr val="182138"/>
          </a:solidFill>
          <a:ln w="11430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2944" y="3557016"/>
            <a:ext cx="181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 Mahimaa Priyadharshini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2944" y="3913632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BBA"/>
                </a:solidFill>
                <a:latin typeface="Consolas"/>
              </a:rPr>
              <a:t>24BCE0411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3429000"/>
            <a:ext cx="2084831" cy="868680"/>
          </a:xfrm>
          <a:prstGeom prst="roundRect">
            <a:avLst>
              <a:gd name="adj" fmla="val 12000"/>
            </a:avLst>
          </a:prstGeom>
          <a:solidFill>
            <a:srgbClr val="182138"/>
          </a:solidFill>
          <a:ln w="11430">
            <a:solidFill>
              <a:srgbClr val="2A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47504" y="3557016"/>
            <a:ext cx="18105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Visweswar Sarma Kota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504" y="3913632"/>
            <a:ext cx="18105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BBA"/>
                </a:solidFill>
                <a:latin typeface="Consolas"/>
              </a:rPr>
              <a:t>24BCE0265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9AA5C2"/>
                </a:solidFill>
                <a:latin typeface="Segoe UI"/>
              </a:rPr>
              <a:t>Presented to Vishnu Priya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35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FB2FF"/>
                </a:solidFill>
                <a:latin typeface="Consolas"/>
              </a:rPr>
              <a:t>github.com/mahimaapriyadharshinis/Parse_Bench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27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C2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C2"/>
                </a:solidFill>
                <a:latin typeface="Consolas"/>
              </a:rPr>
              <a:t>parse-bench.build   01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What this project set out to 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50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768"/>
                </a:solidFill>
                <a:latin typeface="Segoe UI"/>
              </a:rPr>
              <a:t>Six concrete, individually verifiable goals — each one maps directly to a slide later in this deck.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5021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231343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D4FC4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807208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 i="0">
                <a:solidFill>
                  <a:srgbClr val="111827"/>
                </a:solidFill>
                <a:latin typeface="Segoe UI"/>
              </a:rPr>
              <a:t>Formalize the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136392"/>
            <a:ext cx="31729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Define a restricted, C-like grammar in pure BNF covering declarations, assignment, IF/ELSE, WHILE, PRINT and precedence-correct expressions.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148840"/>
            <a:ext cx="35021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9704" y="231343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D4FC4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2807208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 i="0">
                <a:solidFill>
                  <a:srgbClr val="111827"/>
                </a:solidFill>
                <a:latin typeface="Segoe UI"/>
              </a:rPr>
              <a:t>Prove LL(1)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3136392"/>
            <a:ext cx="31729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Compute FIRST/FOLLOW sets and the parsing table algorithmically, and verify zero FIRST/FIRST or FIRST/FOLLOW conflicts — not assert it, prove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148840"/>
            <a:ext cx="35021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74736" y="231343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D4FC4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807208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 i="0">
                <a:solidFill>
                  <a:srgbClr val="111827"/>
                </a:solidFill>
                <a:latin typeface="Segoe UI"/>
              </a:rPr>
              <a:t>Implement recursive descent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3136392"/>
            <a:ext cx="31729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One parsing function per grammar rule, mirroring the BNF directly in code, building a full parse tree as it goes.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35021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1" y="432511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D4FC4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818888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 i="0">
                <a:solidFill>
                  <a:srgbClr val="111827"/>
                </a:solidFill>
                <a:latin typeface="Segoe UI"/>
              </a:rPr>
              <a:t>Engineer dual-tier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5148072"/>
            <a:ext cx="31729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Handle both a missing expected token and a token that can't start any construct, so one pass reports every error, not just the first.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4160520"/>
            <a:ext cx="35021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89704" y="432511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D4FC4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4818888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 i="0">
                <a:solidFill>
                  <a:srgbClr val="111827"/>
                </a:solidFill>
                <a:latin typeface="Segoe UI"/>
              </a:rPr>
              <a:t>Visualize the algorithm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5148072"/>
            <a:ext cx="31729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Give every internal decision — a match, a rule chosen, an error raised, a recovery taken — a real-time, steppable, on-screen trace.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4160520"/>
            <a:ext cx="350215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74736" y="4325112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D4FC4"/>
                </a:solidFill>
                <a:latin typeface="Consola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4818888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 i="0">
                <a:solidFill>
                  <a:srgbClr val="111827"/>
                </a:solidFill>
                <a:latin typeface="Segoe UI"/>
              </a:rPr>
              <a:t>Validate rigorously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5148072"/>
            <a:ext cx="31729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Back every claim with automated tests spanning valid programs, malformed input, and edge cases.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objectives.md   02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705356" cy="310896"/>
          </a:xfrm>
          <a:prstGeom prst="roundRect">
            <a:avLst>
              <a:gd name="adj" fmla="val 50000"/>
            </a:avLst>
          </a:prstGeom>
          <a:solidFill>
            <a:srgbClr val="FC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DC2626"/>
                </a:solidFill>
                <a:latin typeface="Consola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A parser's decisions are usually invisible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50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768"/>
                </a:solidFill>
                <a:latin typeface="Segoe UI"/>
              </a:rPr>
              <a:t>Most beginner tools reduce parsing to one final label — VALID / INVALID — which hides which rule matched, where the tree came from, and how parsing continued after an error.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5394960" cy="397763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9514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626"/>
                </a:solidFill>
                <a:latin typeface="Segoe UI"/>
              </a:rPr>
              <a:t>Current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DC2626"/>
                </a:solidFill>
                <a:latin typeface="Segoe UI"/>
              </a:rPr>
              <a:t>›  </a:t>
            </a:r>
            <a:r>
              <a:rPr sz="1150" b="1">
                <a:solidFill>
                  <a:srgbClr val="111827"/>
                </a:solidFill>
                <a:latin typeface="Segoe UI"/>
              </a:rPr>
              <a:t>Opaque debugging  </a:t>
            </a:r>
            <a:r>
              <a:rPr sz="1150">
                <a:solidFill>
                  <a:srgbClr val="4B5768"/>
                </a:solidFill>
                <a:latin typeface="Segoe UI"/>
              </a:rPr>
              <a:t>traditional tools obscure state-machine transitions, making error tracing difficult.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DC2626"/>
                </a:solidFill>
                <a:latin typeface="Segoe UI"/>
              </a:rPr>
              <a:t>›  </a:t>
            </a:r>
            <a:r>
              <a:rPr sz="1150" b="1">
                <a:solidFill>
                  <a:srgbClr val="111827"/>
                </a:solidFill>
                <a:latin typeface="Segoe UI"/>
              </a:rPr>
              <a:t>Catastrophic crashes  </a:t>
            </a:r>
            <a:r>
              <a:rPr sz="1150">
                <a:solidFill>
                  <a:srgbClr val="4B5768"/>
                </a:solidFill>
                <a:latin typeface="Segoe UI"/>
              </a:rPr>
              <a:t>standard parsers halt outright or stall on the first unexpected token.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DC2626"/>
                </a:solidFill>
                <a:latin typeface="Segoe UI"/>
              </a:rPr>
              <a:t>›  </a:t>
            </a:r>
            <a:r>
              <a:rPr sz="1150" b="1">
                <a:solidFill>
                  <a:srgbClr val="111827"/>
                </a:solidFill>
                <a:latin typeface="Segoe UI"/>
              </a:rPr>
              <a:t>Lost context  </a:t>
            </a:r>
            <a:r>
              <a:rPr sz="1150">
                <a:solidFill>
                  <a:srgbClr val="4B5768"/>
                </a:solidFill>
                <a:latin typeface="Segoe UI"/>
              </a:rPr>
              <a:t>a fail-fast parser discards every token after the first fault, so only one error is ever reported.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48840"/>
            <a:ext cx="5394960" cy="397763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29514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F6E"/>
                </a:solidFill>
                <a:latin typeface="Segoe UI"/>
              </a:rPr>
              <a:t>What Parse Bench makes observable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0E9F6E"/>
                </a:solidFill>
                <a:latin typeface="Segoe UI"/>
              </a:rPr>
              <a:t>›  </a:t>
            </a:r>
            <a:r>
              <a:rPr sz="1150" b="1">
                <a:solidFill>
                  <a:srgbClr val="111827"/>
                </a:solidFill>
                <a:latin typeface="Segoe UI"/>
              </a:rPr>
              <a:t>Learn  </a:t>
            </a:r>
            <a:r>
              <a:rPr sz="1150">
                <a:solidFill>
                  <a:srgbClr val="4B5768"/>
                </a:solidFill>
                <a:latin typeface="Segoe UI"/>
              </a:rPr>
              <a:t>connect grammar rules to an actual run, token by token.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0E9F6E"/>
                </a:solidFill>
                <a:latin typeface="Segoe UI"/>
              </a:rPr>
              <a:t>›  </a:t>
            </a:r>
            <a:r>
              <a:rPr sz="1150" b="1">
                <a:solidFill>
                  <a:srgbClr val="111827"/>
                </a:solidFill>
                <a:latin typeface="Segoe UI"/>
              </a:rPr>
              <a:t>Debug  </a:t>
            </a:r>
            <a:r>
              <a:rPr sz="1150">
                <a:solidFill>
                  <a:srgbClr val="4B5768"/>
                </a:solidFill>
                <a:latin typeface="Segoe UI"/>
              </a:rPr>
              <a:t>locate the exact token and expectation that failed.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50" b="1">
                <a:solidFill>
                  <a:srgbClr val="0E9F6E"/>
                </a:solidFill>
                <a:latin typeface="Segoe UI"/>
              </a:rPr>
              <a:t>›  </a:t>
            </a:r>
            <a:r>
              <a:rPr sz="1150" b="1">
                <a:solidFill>
                  <a:srgbClr val="111827"/>
                </a:solidFill>
                <a:latin typeface="Segoe UI"/>
              </a:rPr>
              <a:t>Explain  </a:t>
            </a:r>
            <a:r>
              <a:rPr sz="1150">
                <a:solidFill>
                  <a:srgbClr val="4B5768"/>
                </a:solidFill>
                <a:latin typeface="Segoe UI"/>
              </a:rPr>
              <a:t>present every parse as a live trace and a parse tree, not just a verdict.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problem.md   03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705356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Advancing syntax validation through deterministic LL(1)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3949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1226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Strategic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78024"/>
            <a:ext cx="502920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4B5768"/>
                </a:solidFill>
                <a:latin typeface="Segoe UI"/>
              </a:rPr>
              <a:t>Bridge theoretical compiler-design concepts with practical, visual analysis — both an educational platform and a robust syntax-validation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65960"/>
            <a:ext cx="53949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11226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Scope of this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478024"/>
            <a:ext cx="502920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4B5768"/>
                </a:solidFill>
                <a:latin typeface="Segoe UI"/>
              </a:rPr>
              <a:t>No lexer by design: the analyzer's input is a token stream, not source text. It builds an LL(1) table and recursive-descent parser directly from a formal grammar.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10927080" cy="2148840"/>
          </a:xfrm>
          <a:prstGeom prst="roundRect">
            <a:avLst>
              <a:gd name="adj" fmla="val 7000"/>
            </a:avLst>
          </a:prstGeom>
          <a:solidFill>
            <a:srgbClr val="DD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9F6E"/>
                </a:solidFill>
                <a:latin typeface="Segoe UI"/>
              </a:rPr>
              <a:t>The proposed solution — Parse Bench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A deterministic LL(1) parser with a genuinely proven, conflict-free grammar (FIRST/FOLLOW sets and the parsing table are computed by generic fixed-point algorithms, not hand-filled). Two error-recovery strategies work together so one run reports every mistake instead of stopping at the first.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solution.md   04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394460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Six deliverables cover the full syntax-analyzer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50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768"/>
                </a:solidFill>
                <a:latin typeface="Segoe UI"/>
              </a:rPr>
              <a:t>Task allocation ensures every layer of the system — from formal grammar to live demonstration — is documented and presented.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502152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432304"/>
            <a:ext cx="3136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98064"/>
            <a:ext cx="3136392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4B5768"/>
                </a:solidFill>
                <a:latin typeface="Segoe UI"/>
              </a:rPr>
              <a:t>Slide deck summarizing goals, design and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2286000"/>
            <a:ext cx="3502152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2432304"/>
            <a:ext cx="3136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798064"/>
            <a:ext cx="3136392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4B5768"/>
                </a:solidFill>
                <a:latin typeface="Segoe UI"/>
              </a:rPr>
              <a:t>Detailed flowcharts and pipeline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2286000"/>
            <a:ext cx="3502152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3" y="2432304"/>
            <a:ext cx="3136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Grammar &amp;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2798064"/>
            <a:ext cx="3136392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4B5768"/>
                </a:solidFill>
                <a:latin typeface="Segoe UI"/>
              </a:rPr>
              <a:t>Pure BNF grammar and LL(1) table specification.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3502152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306824"/>
            <a:ext cx="3136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Parse-tree visuals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672584"/>
            <a:ext cx="3136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4B5768"/>
                </a:solidFill>
                <a:latin typeface="Segoe UI"/>
              </a:rPr>
              <a:t>Structural AST visualizations for valid and error runs.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4160520"/>
            <a:ext cx="3502152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4306824"/>
            <a:ext cx="3136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Interface screenshots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4672584"/>
            <a:ext cx="3136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4B5768"/>
                </a:solidFill>
                <a:latin typeface="Segoe UI"/>
              </a:rPr>
              <a:t>Real captures of the live web app in 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4160520"/>
            <a:ext cx="3502152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3" y="4306824"/>
            <a:ext cx="3136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Live demonstration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4672584"/>
            <a:ext cx="3136392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4B5768"/>
                </a:solidFill>
                <a:latin typeface="Segoe UI"/>
              </a:rPr>
              <a:t>Real-time web-app walkthrough of both scenarios.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scope.md   05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161288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Built as a real, tested engineering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50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768"/>
                </a:solidFill>
                <a:latin typeface="Segoe UI"/>
              </a:rPr>
              <a:t>Not a single script: a Python core with two independent, interchangeable frontends and an automated test suite.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09270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11827"/>
                </a:solidFill>
                <a:latin typeface="Segoe UI"/>
              </a:rPr>
              <a:t>Core algorithm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286000"/>
            <a:ext cx="1239012" cy="274320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50" b="1">
                <a:solidFill>
                  <a:srgbClr val="1D4FC4"/>
                </a:solidFill>
                <a:latin typeface="Consolas"/>
              </a:rPr>
              <a:t>PYTHON 3.9+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2286000"/>
            <a:ext cx="6035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tokens.py, grammar.py, parser.py, parse_tree.py — the FIRST/FOLLOW/LL(1)/recursive-descent logic lives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109270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11827"/>
                </a:solidFill>
                <a:latin typeface="Segoe UI"/>
              </a:rPr>
              <a:t>Primary 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3154679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50" b="1">
                <a:solidFill>
                  <a:srgbClr val="1D4FC4"/>
                </a:solidFill>
                <a:latin typeface="Consolas"/>
              </a:rPr>
              <a:t>REACT + 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3154679"/>
            <a:ext cx="6035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frontend/react-app/ — the interactive stepper, tree visualizer, and tabs shown throughout this deck.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109270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11827"/>
                </a:solidFill>
                <a:latin typeface="Segoe UI"/>
              </a:rPr>
              <a:t>Zero-install 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4023360"/>
            <a:ext cx="1549908" cy="274320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50" b="1">
                <a:solidFill>
                  <a:srgbClr val="1D4FC4"/>
                </a:solidFill>
                <a:latin typeface="Consolas"/>
              </a:rPr>
              <a:t>HTML / CSS / 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4023360"/>
            <a:ext cx="6035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frontend/parse_bench.html — the same algorithm ported 1:1, no build step, opens directly in a browser.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54880"/>
            <a:ext cx="109270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11827"/>
                </a:solidFill>
                <a:latin typeface="Segoe UI"/>
              </a:rPr>
              <a:t>Testing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489204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50" b="1">
                <a:solidFill>
                  <a:srgbClr val="1D4FC4"/>
                </a:solidFill>
                <a:latin typeface="Consolas"/>
              </a:rPr>
              <a:t>PYTEST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4892040"/>
            <a:ext cx="6035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21 automated tests: valid programs, syntax errors, edge cases, and a genuine LL(1)-compliance check.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623560"/>
            <a:ext cx="109270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7607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11827"/>
                </a:solidFill>
                <a:latin typeface="Segoe UI"/>
              </a:rPr>
              <a:t>Optional tree export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57607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50" b="1">
                <a:solidFill>
                  <a:srgbClr val="1D4FC4"/>
                </a:solidFill>
                <a:latin typeface="Consolas"/>
              </a:rPr>
              <a:t>GRAPHVIZ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5760720"/>
            <a:ext cx="6035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Parse trees can be exported from the Python source as .dot diagrams.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stack.md   06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093976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LANGUAGE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A context-free grammar in pure Backus–Naur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50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768"/>
                </a:solidFill>
                <a:latin typeface="Segoe UI"/>
              </a:rPr>
              <a:t>Captured live from the app's own “Grammar &amp; LL(1)” tab — nothing here is hand-typed.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886297" cy="4343400"/>
          </a:xfrm>
          <a:prstGeom prst="roundRect">
            <a:avLst>
              <a:gd name="adj" fmla="val 3000"/>
            </a:avLst>
          </a:prstGeom>
          <a:solidFill>
            <a:srgbClr val="EEF2F8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19" y="2050464"/>
            <a:ext cx="64008" cy="64008"/>
          </a:xfrm>
          <a:prstGeom prst="ellipse">
            <a:avLst/>
          </a:prstGeom>
          <a:solidFill>
            <a:srgbClr val="E3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050464"/>
            <a:ext cx="64008" cy="6400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7" y="2050464"/>
            <a:ext cx="64008" cy="64008"/>
          </a:xfrm>
          <a:prstGeom prst="ellipse">
            <a:avLst/>
          </a:prstGeom>
          <a:solidFill>
            <a:srgbClr val="8F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a_grammar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2198977"/>
            <a:ext cx="5739993" cy="398610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0" y="1965960"/>
            <a:ext cx="3776472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112264"/>
            <a:ext cx="3410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Declarations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78024"/>
            <a:ext cx="341071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30" b="0" i="0">
                <a:solidFill>
                  <a:srgbClr val="4B5768"/>
                </a:solidFill>
                <a:latin typeface="Segoe UI"/>
              </a:rPr>
              <a:t>INT ID SEMI — a single production defines variable creation.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081528"/>
            <a:ext cx="3776472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227832"/>
            <a:ext cx="3410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Assignments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593592"/>
            <a:ext cx="341071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30" b="0" i="0">
                <a:solidFill>
                  <a:srgbClr val="4B5768"/>
                </a:solidFill>
                <a:latin typeface="Segoe UI"/>
              </a:rPr>
              <a:t>ID ASSIGN expr SEMI binds an identifier to an evaluated expression.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197096"/>
            <a:ext cx="3776472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343400"/>
            <a:ext cx="3410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Control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709160"/>
            <a:ext cx="3410712" cy="3474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30" b="0" i="0">
                <a:solidFill>
                  <a:srgbClr val="4B5768"/>
                </a:solidFill>
                <a:latin typeface="Segoe UI"/>
              </a:rPr>
              <a:t>IF / ELSE and WHILE both gate a nested block.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5312664"/>
            <a:ext cx="3776472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5458968"/>
            <a:ext cx="3410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Expressions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824728"/>
            <a:ext cx="3410712" cy="3474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30" b="0" i="0">
                <a:solidFill>
                  <a:srgbClr val="4B5768"/>
                </a:solidFill>
                <a:latin typeface="Segoe UI"/>
              </a:rPr>
              <a:t>Hierarchical precedence via term and factor — no ambiguity, no rewrites.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grammar.bnf   07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INPUT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The input names tokens instead of raw characters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93A3"/>
                </a:solidFill>
                <a:latin typeface="Consolas"/>
              </a:rPr>
              <a:t>STREAM.TOK — the “Valid program” preset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6121096" cy="1737360"/>
          </a:xfrm>
          <a:prstGeom prst="roundRect">
            <a:avLst>
              <a:gd name="adj" fmla="val 3000"/>
            </a:avLst>
          </a:prstGeom>
          <a:solidFill>
            <a:srgbClr val="EEF2F8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19" y="2420990"/>
            <a:ext cx="64008" cy="64008"/>
          </a:xfrm>
          <a:prstGeom prst="ellipse">
            <a:avLst/>
          </a:prstGeom>
          <a:solidFill>
            <a:srgbClr val="E3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420990"/>
            <a:ext cx="64008" cy="6400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7" y="2420990"/>
            <a:ext cx="64008" cy="64008"/>
          </a:xfrm>
          <a:prstGeom prst="ellipse">
            <a:avLst/>
          </a:prstGeom>
          <a:solidFill>
            <a:srgbClr val="8F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tokens_va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2574269"/>
            <a:ext cx="5974792" cy="136545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4343400"/>
            <a:ext cx="690372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11827"/>
                </a:solidFill>
                <a:latin typeface="Consolas"/>
              </a:rPr>
              <a:t>INT ID(x) SEMI            ID(x) ASSIGN NUM(1) PLUS NUM(2) SEMI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29200"/>
            <a:ext cx="6446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B5768"/>
                </a:solidFill>
                <a:latin typeface="Segoe UI"/>
              </a:rPr>
              <a:t>One or more tokens per line. Each token is TYPE or TYPE(lexeme) — a lexeme is required for ID/NUM, optional elsewhere. # starts a comment; no lexer is included by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965960"/>
            <a:ext cx="3776472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112264"/>
            <a:ext cx="3410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Why this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78024"/>
            <a:ext cx="3410712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4B5768"/>
                </a:solidFill>
                <a:latin typeface="Segoe UI"/>
              </a:rPr>
              <a:t>Separates lexical input from syntax analysis, so grammar tests stay short and repeatable.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657600"/>
            <a:ext cx="3776472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3803904"/>
            <a:ext cx="3410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Colour =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169664"/>
            <a:ext cx="3410712" cy="896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4B5768"/>
                </a:solidFill>
                <a:latin typeface="Segoe UI"/>
              </a:rPr>
              <a:t>Keyword / identifier / number / EOF — the only decorative colour in the whole UI, and it's functional.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tokens.stream   08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394460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ALLOWED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The accepted language,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50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768"/>
                </a:solidFill>
                <a:latin typeface="Segoe UI"/>
              </a:rPr>
              <a:t>Everything the grammar accepts, shown as source — and just as importantly, what it deliberately leaves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6903720" cy="2788920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39696"/>
            <a:ext cx="6537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492AB"/>
                </a:solidFill>
                <a:latin typeface="Consolas"/>
              </a:rPr>
              <a:t>Every construct the grammar accepts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59" y="2432304"/>
            <a:ext cx="6537961" cy="0"/>
          </a:xfrm>
          <a:prstGeom prst="line">
            <a:avLst/>
          </a:prstGeom>
          <a:ln w="635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59" y="2542032"/>
            <a:ext cx="6537959" cy="2130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160">
                <a:solidFill>
                  <a:srgbClr val="8FB6EE"/>
                </a:solidFill>
                <a:latin typeface="Consolas"/>
              </a:rPr>
              <a:t>int</a:t>
            </a:r>
            <a:r>
              <a:rPr sz="1160">
                <a:solidFill>
                  <a:srgbClr val="E7ECF5"/>
                </a:solidFill>
                <a:latin typeface="Consolas"/>
              </a:rPr>
              <a:t> x;                          </a:t>
            </a:r>
            <a:r>
              <a:rPr sz="1160">
                <a:solidFill>
                  <a:srgbClr val="8492AB"/>
                </a:solidFill>
                <a:latin typeface="Consolas"/>
              </a:rPr>
              <a:t>// declaration</a:t>
            </a:r>
          </a:p>
          <a:p>
            <a:pPr>
              <a:lnSpc>
                <a:spcPct val="140000"/>
              </a:lnSpc>
            </a:pPr>
            <a:r>
              <a:rPr sz="1160">
                <a:solidFill>
                  <a:srgbClr val="E7ECF5"/>
                </a:solidFill>
                <a:latin typeface="Consolas"/>
              </a:rPr>
              <a:t>x = 1 + 2 * 3;                    </a:t>
            </a:r>
            <a:r>
              <a:rPr sz="1160">
                <a:solidFill>
                  <a:srgbClr val="8492AB"/>
                </a:solidFill>
                <a:latin typeface="Consolas"/>
              </a:rPr>
              <a:t>// assignment + precedence</a:t>
            </a:r>
          </a:p>
          <a:p>
            <a:pPr>
              <a:lnSpc>
                <a:spcPct val="140000"/>
              </a:lnSpc>
            </a:pPr>
            <a:r>
              <a:rPr sz="1160">
                <a:solidFill>
                  <a:srgbClr val="8FB6EE"/>
                </a:solidFill>
                <a:latin typeface="Consolas"/>
              </a:rPr>
              <a:t>if</a:t>
            </a:r>
            <a:r>
              <a:rPr sz="1160">
                <a:solidFill>
                  <a:srgbClr val="E7ECF5"/>
                </a:solidFill>
                <a:latin typeface="Consolas"/>
              </a:rPr>
              <a:t> (x &lt; 10) { ... } </a:t>
            </a:r>
            <a:r>
              <a:rPr sz="1160">
                <a:solidFill>
                  <a:srgbClr val="8FB6EE"/>
                </a:solidFill>
                <a:latin typeface="Consolas"/>
              </a:rPr>
              <a:t>else</a:t>
            </a:r>
            <a:r>
              <a:rPr sz="1160">
                <a:solidFill>
                  <a:srgbClr val="E7ECF5"/>
                </a:solidFill>
                <a:latin typeface="Consolas"/>
              </a:rPr>
              <a:t> { ... }</a:t>
            </a:r>
          </a:p>
          <a:p>
            <a:pPr>
              <a:lnSpc>
                <a:spcPct val="140000"/>
              </a:lnSpc>
            </a:pPr>
            <a:r>
              <a:rPr sz="1160">
                <a:solidFill>
                  <a:srgbClr val="8FB6EE"/>
                </a:solidFill>
                <a:latin typeface="Consolas"/>
              </a:rPr>
              <a:t>while</a:t>
            </a:r>
            <a:r>
              <a:rPr sz="1160">
                <a:solidFill>
                  <a:srgbClr val="E7ECF5"/>
                </a:solidFill>
                <a:latin typeface="Consolas"/>
              </a:rPr>
              <a:t> (x &gt;= 0) { ... }</a:t>
            </a:r>
          </a:p>
          <a:p>
            <a:pPr>
              <a:lnSpc>
                <a:spcPct val="140000"/>
              </a:lnSpc>
            </a:pPr>
            <a:r>
              <a:rPr sz="1160">
                <a:solidFill>
                  <a:srgbClr val="8FB6EE"/>
                </a:solidFill>
                <a:latin typeface="Consolas"/>
              </a:rPr>
              <a:t>print</a:t>
            </a:r>
            <a:r>
              <a:rPr sz="1160">
                <a:solidFill>
                  <a:srgbClr val="E7ECF5"/>
                </a:solidFill>
                <a:latin typeface="Consolas"/>
              </a:rPr>
              <a:t>(x);</a:t>
            </a:r>
          </a:p>
          <a:p>
            <a:pPr>
              <a:lnSpc>
                <a:spcPct val="140000"/>
              </a:lnSpc>
            </a:pPr>
            <a:r>
              <a:rPr sz="1160">
                <a:solidFill>
                  <a:srgbClr val="E7ECF5"/>
                </a:solidFill>
                <a:latin typeface="Consolas"/>
              </a:rPr>
              <a:t>(x + 1) * (x - 1)                 </a:t>
            </a:r>
            <a:r>
              <a:rPr sz="1160">
                <a:solidFill>
                  <a:srgbClr val="8492AB"/>
                </a:solidFill>
                <a:latin typeface="Consolas"/>
              </a:rPr>
              <a:t>// parenthesized exprs</a:t>
            </a:r>
          </a:p>
          <a:p>
            <a:pPr>
              <a:lnSpc>
                <a:spcPct val="140000"/>
              </a:lnSpc>
            </a:pPr>
            <a:r>
              <a:rPr sz="1160">
                <a:solidFill>
                  <a:srgbClr val="E7ECF5"/>
                </a:solidFill>
                <a:latin typeface="Consolas"/>
              </a:rPr>
              <a:t>x == 10   x != 0   x &lt;= 5   x &gt;= 5</a:t>
            </a:r>
            <a:r>
              <a:rPr sz="1160">
                <a:solidFill>
                  <a:srgbClr val="8492AB"/>
                </a:solidFill>
                <a:latin typeface="Consolas"/>
              </a:rPr>
              <a:t>  // relops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37760"/>
            <a:ext cx="69037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084064"/>
            <a:ext cx="6537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Allowed token 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449824"/>
            <a:ext cx="6537959" cy="6675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40" b="0" i="0">
                <a:solidFill>
                  <a:srgbClr val="4B5768"/>
                </a:solidFill>
                <a:latin typeface="Segoe UI"/>
              </a:rPr>
              <a:t>Keywords: int, if, else, while, print   ·   Operators: = + - * / &lt; &gt; &lt;= &gt;= == !=   ·   Punctuation: ( ) { } ;   ·   Literals: identifiers, integers.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011680"/>
            <a:ext cx="3776472" cy="425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157984"/>
            <a:ext cx="3410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626"/>
                </a:solidFill>
                <a:latin typeface="Segoe UI"/>
              </a:rPr>
              <a:t>Deliberately not in this grammar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514600"/>
            <a:ext cx="3429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980" b="1">
                <a:solidFill>
                  <a:srgbClr val="DC2626"/>
                </a:solidFill>
                <a:latin typeface="Segoe UI"/>
              </a:rPr>
              <a:t>›  </a:t>
            </a:r>
            <a:r>
              <a:rPr sz="980" b="1">
                <a:solidFill>
                  <a:srgbClr val="111827"/>
                </a:solidFill>
                <a:latin typeface="Segoe UI"/>
              </a:rPr>
              <a:t>Functions  </a:t>
            </a:r>
            <a:r>
              <a:rPr sz="980">
                <a:solidFill>
                  <a:srgbClr val="4B5768"/>
                </a:solidFill>
                <a:latin typeface="Segoe UI"/>
              </a:rPr>
              <a:t>no user-defined procedures or calls.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980" b="1">
                <a:solidFill>
                  <a:srgbClr val="DC2626"/>
                </a:solidFill>
                <a:latin typeface="Segoe UI"/>
              </a:rPr>
              <a:t>›  </a:t>
            </a:r>
            <a:r>
              <a:rPr sz="980" b="1">
                <a:solidFill>
                  <a:srgbClr val="111827"/>
                </a:solidFill>
                <a:latin typeface="Segoe UI"/>
              </a:rPr>
              <a:t>Arrays &amp; strings  </a:t>
            </a:r>
            <a:r>
              <a:rPr sz="980">
                <a:solidFill>
                  <a:srgbClr val="4B5768"/>
                </a:solidFill>
                <a:latin typeface="Segoe UI"/>
              </a:rPr>
              <a:t>int is the only data type.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980" b="1">
                <a:solidFill>
                  <a:srgbClr val="DC2626"/>
                </a:solidFill>
                <a:latin typeface="Segoe UI"/>
              </a:rPr>
              <a:t>›  </a:t>
            </a:r>
            <a:r>
              <a:rPr sz="980" b="1">
                <a:solidFill>
                  <a:srgbClr val="111827"/>
                </a:solidFill>
                <a:latin typeface="Segoe UI"/>
              </a:rPr>
              <a:t>Floats  </a:t>
            </a:r>
            <a:r>
              <a:rPr sz="980">
                <a:solidFill>
                  <a:srgbClr val="4B5768"/>
                </a:solidFill>
                <a:latin typeface="Segoe UI"/>
              </a:rPr>
              <a:t>NUM is integer-only.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980" b="1">
                <a:solidFill>
                  <a:srgbClr val="DC2626"/>
                </a:solidFill>
                <a:latin typeface="Segoe UI"/>
              </a:rPr>
              <a:t>›  </a:t>
            </a:r>
            <a:r>
              <a:rPr sz="980" b="1">
                <a:solidFill>
                  <a:srgbClr val="111827"/>
                </a:solidFill>
                <a:latin typeface="Segoe UI"/>
              </a:rPr>
              <a:t>&amp;&amp;  ||  !  </a:t>
            </a:r>
            <a:r>
              <a:rPr sz="980">
                <a:solidFill>
                  <a:srgbClr val="4B5768"/>
                </a:solidFill>
                <a:latin typeface="Segoe UI"/>
              </a:rPr>
              <a:t>no boolean/logical operators.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980" b="1">
                <a:solidFill>
                  <a:srgbClr val="DC2626"/>
                </a:solidFill>
                <a:latin typeface="Segoe UI"/>
              </a:rPr>
              <a:t>›  </a:t>
            </a:r>
            <a:r>
              <a:rPr sz="980" b="1">
                <a:solidFill>
                  <a:srgbClr val="111827"/>
                </a:solidFill>
                <a:latin typeface="Segoe UI"/>
              </a:rPr>
              <a:t>++  --  </a:t>
            </a:r>
            <a:r>
              <a:rPr sz="980">
                <a:solidFill>
                  <a:srgbClr val="4B5768"/>
                </a:solidFill>
                <a:latin typeface="Segoe UI"/>
              </a:rPr>
              <a:t>no increment/decrement.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980" b="1">
                <a:solidFill>
                  <a:srgbClr val="DC2626"/>
                </a:solidFill>
                <a:latin typeface="Segoe UI"/>
              </a:rPr>
              <a:t>›  </a:t>
            </a:r>
            <a:r>
              <a:rPr sz="980" b="1">
                <a:solidFill>
                  <a:srgbClr val="111827"/>
                </a:solidFill>
                <a:latin typeface="Segoe UI"/>
              </a:rPr>
              <a:t>for, do-while, switch  </a:t>
            </a:r>
            <a:r>
              <a:rPr sz="980">
                <a:solidFill>
                  <a:srgbClr val="4B5768"/>
                </a:solidFill>
                <a:latin typeface="Segoe UI"/>
              </a:rPr>
              <a:t>one loop form (while) is enough to prove the technique.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allowed.grammar   09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394460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A modular five-stage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50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768"/>
                </a:solidFill>
                <a:latin typeface="Segoe UI"/>
              </a:rPr>
              <a:t>Raw ingestion flows through to interactive visualization; each stage has one responsibility.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193359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298094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D4FC4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401568"/>
            <a:ext cx="164098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730752"/>
            <a:ext cx="1640982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Raw token stream arrives from the UI textarea.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3670" y="34564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993A3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4566" y="2834640"/>
            <a:ext cx="193359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30870" y="298094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D4FC4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0870" y="3401568"/>
            <a:ext cx="164098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0870" y="3730752"/>
            <a:ext cx="1640982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tokens.py parses the text format into Token objects.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156" y="34564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993A3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9052" y="2834640"/>
            <a:ext cx="1933590" cy="1554480"/>
          </a:xfrm>
          <a:prstGeom prst="roundRect">
            <a:avLst>
              <a:gd name="adj" fmla="val 9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75356" y="298094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D4FC4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5356" y="3401568"/>
            <a:ext cx="164098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LL(1) parser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5356" y="3730752"/>
            <a:ext cx="1640982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parser.py — recursive descent validated against grammar.py.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2642" y="34564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993A3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3538" y="2834640"/>
            <a:ext cx="1933590" cy="1554480"/>
          </a:xfrm>
          <a:prstGeom prst="roundRect">
            <a:avLst>
              <a:gd name="adj" fmla="val 9000"/>
            </a:avLst>
          </a:prstGeom>
          <a:solidFill>
            <a:srgbClr val="FC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19842" y="298094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C2626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9842" y="3401568"/>
            <a:ext cx="164098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Recovery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9842" y="3730752"/>
            <a:ext cx="1640982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Phrase-level (soft expect) or panic-mode (synchronize).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7128" y="34564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993A3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18024" y="2834640"/>
            <a:ext cx="1933590" cy="1554480"/>
          </a:xfrm>
          <a:prstGeom prst="roundRect">
            <a:avLst>
              <a:gd name="adj" fmla="val 9000"/>
            </a:avLst>
          </a:prstGeom>
          <a:solidFill>
            <a:srgbClr val="DD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64328" y="298094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E9F6E"/>
                </a:solidFill>
                <a:latin typeface="Consola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4328" y="3401568"/>
            <a:ext cx="164098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Visualizer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4328" y="3730752"/>
            <a:ext cx="1640982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parse_tree.py → an interactive React canvas.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architecture.md   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One input drives five connected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50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768"/>
                </a:solidFill>
                <a:latin typeface="Segoe UI"/>
              </a:rPr>
              <a:t>A token stream enters the parser once; every panel in the interface is generated from that same run.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065263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243230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4FC4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926080"/>
            <a:ext cx="1772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Token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255264"/>
            <a:ext cx="17726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Read token type and optional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1647" y="2286000"/>
            <a:ext cx="2065263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97951" y="243230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4FC4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7951" y="2926080"/>
            <a:ext cx="1772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LL(1) parser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7951" y="3255264"/>
            <a:ext cx="17726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Choose a rule using one lookahead.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3215" y="2286000"/>
            <a:ext cx="2065263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09519" y="243230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4FC4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9519" y="2926080"/>
            <a:ext cx="1772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Parse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9519" y="3255264"/>
            <a:ext cx="17726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Create nodes as rules match.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74783" y="2286000"/>
            <a:ext cx="2065263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1087" y="243230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D4FC4"/>
                </a:solidFill>
                <a:latin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1087" y="2926080"/>
            <a:ext cx="1772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Live 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1087" y="3255264"/>
            <a:ext cx="17726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Show consumes, matches, recovery.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86351" y="2286000"/>
            <a:ext cx="2065263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32655" y="243230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DD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E9F6E"/>
                </a:solidFill>
                <a:latin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2655" y="2926080"/>
            <a:ext cx="1772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2655" y="3255264"/>
            <a:ext cx="17726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Report validity, metrics, errors.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17720"/>
            <a:ext cx="10927080" cy="1005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10378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11827"/>
                </a:solidFill>
                <a:latin typeface="Segoe UI"/>
              </a:rPr>
              <a:t>Because every view shares one parser state, a highlighted token, a trace entry and a tree node all describe the same moment.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dataflow.md   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404872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CORE ALGORITHM &amp;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LL(1) keeps every parsing decision deterministic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5394960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232257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D4FC4"/>
                </a:solidFill>
                <a:latin typeface="Consolas"/>
              </a:rPr>
              <a:t>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31343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Segoe UI"/>
              </a:rPr>
              <a:t>Left to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64261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B5768"/>
                </a:solidFill>
                <a:latin typeface="Segoe UI"/>
              </a:rPr>
              <a:t>Input is scanned strictly left to right, one token at a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5394960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364845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D4FC4"/>
                </a:solidFill>
                <a:latin typeface="Consolas"/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63931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Segoe UI"/>
              </a:rPr>
              <a:t>Leftmost derivation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96849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B5768"/>
                </a:solidFill>
                <a:latin typeface="Segoe UI"/>
              </a:rPr>
              <a:t>The parser constructs a leftmost derivation of the input program.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00600"/>
            <a:ext cx="5394960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" y="497433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D4FC4"/>
                </a:solidFill>
                <a:latin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96519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Segoe UI"/>
              </a:rPr>
              <a:t>One-token lookahead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29437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B5768"/>
                </a:solidFill>
                <a:latin typeface="Segoe UI"/>
              </a:rPr>
              <a:t>Exactly one lookahead token selects the production — never more.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148840"/>
            <a:ext cx="5285232" cy="2788920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276856"/>
            <a:ext cx="49194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492AB"/>
                </a:solidFill>
                <a:latin typeface="Consolas"/>
              </a:rPr>
              <a:t>parser.py — Parser.parse_statement()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46520" y="2569464"/>
            <a:ext cx="4919472" cy="0"/>
          </a:xfrm>
          <a:prstGeom prst="line">
            <a:avLst/>
          </a:prstGeom>
          <a:ln w="635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46520" y="2679192"/>
            <a:ext cx="4919472" cy="2130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130">
                <a:solidFill>
                  <a:srgbClr val="8492AB"/>
                </a:solidFill>
                <a:latin typeface="Consolas"/>
              </a:rPr>
              <a:t># parser.py — statement() dispatch, verbatim</a:t>
            </a:r>
          </a:p>
          <a:p>
            <a:pPr>
              <a:lnSpc>
                <a:spcPct val="140000"/>
              </a:lnSpc>
            </a:pPr>
            <a:r>
              <a:rPr sz="1130">
                <a:solidFill>
                  <a:srgbClr val="E7ECF5"/>
                </a:solidFill>
                <a:latin typeface="Consolas"/>
              </a:rPr>
              <a:t>dispatch = {</a:t>
            </a:r>
          </a:p>
          <a:p>
            <a:pPr>
              <a:lnSpc>
                <a:spcPct val="140000"/>
              </a:lnSpc>
            </a:pPr>
            <a:r>
              <a:rPr sz="1130">
                <a:solidFill>
                  <a:srgbClr val="E7ECF5"/>
                </a:solidFill>
                <a:latin typeface="Consolas"/>
              </a:rPr>
              <a:t>    TokenType.INT:   </a:t>
            </a:r>
            <a:r>
              <a:rPr sz="1130">
                <a:solidFill>
                  <a:srgbClr val="8FB6EE"/>
                </a:solidFill>
                <a:latin typeface="Consolas"/>
              </a:rPr>
              <a:t>self.parse_decl_stmt</a:t>
            </a:r>
            <a:r>
              <a:rPr sz="1130">
                <a:solidFill>
                  <a:srgbClr val="E7ECF5"/>
                </a:solidFill>
                <a:latin typeface="Consolas"/>
              </a:rPr>
              <a:t>,</a:t>
            </a:r>
          </a:p>
          <a:p>
            <a:pPr>
              <a:lnSpc>
                <a:spcPct val="140000"/>
              </a:lnSpc>
            </a:pPr>
            <a:r>
              <a:rPr sz="1130">
                <a:solidFill>
                  <a:srgbClr val="E7ECF5"/>
                </a:solidFill>
                <a:latin typeface="Consolas"/>
              </a:rPr>
              <a:t>    TokenType.ID:    </a:t>
            </a:r>
            <a:r>
              <a:rPr sz="1130">
                <a:solidFill>
                  <a:srgbClr val="8FB6EE"/>
                </a:solidFill>
                <a:latin typeface="Consolas"/>
              </a:rPr>
              <a:t>self.parse_assign_stmt</a:t>
            </a:r>
            <a:r>
              <a:rPr sz="1130">
                <a:solidFill>
                  <a:srgbClr val="E7ECF5"/>
                </a:solidFill>
                <a:latin typeface="Consolas"/>
              </a:rPr>
              <a:t>,</a:t>
            </a:r>
          </a:p>
          <a:p>
            <a:pPr>
              <a:lnSpc>
                <a:spcPct val="140000"/>
              </a:lnSpc>
            </a:pPr>
            <a:r>
              <a:rPr sz="1130">
                <a:solidFill>
                  <a:srgbClr val="E7ECF5"/>
                </a:solidFill>
                <a:latin typeface="Consolas"/>
              </a:rPr>
              <a:t>    TokenType.IF:    </a:t>
            </a:r>
            <a:r>
              <a:rPr sz="1130">
                <a:solidFill>
                  <a:srgbClr val="8FB6EE"/>
                </a:solidFill>
                <a:latin typeface="Consolas"/>
              </a:rPr>
              <a:t>self.parse_if_stmt</a:t>
            </a:r>
            <a:r>
              <a:rPr sz="1130">
                <a:solidFill>
                  <a:srgbClr val="E7ECF5"/>
                </a:solidFill>
                <a:latin typeface="Consolas"/>
              </a:rPr>
              <a:t>,</a:t>
            </a:r>
          </a:p>
          <a:p>
            <a:pPr>
              <a:lnSpc>
                <a:spcPct val="140000"/>
              </a:lnSpc>
            </a:pPr>
            <a:r>
              <a:rPr sz="1130">
                <a:solidFill>
                  <a:srgbClr val="E7ECF5"/>
                </a:solidFill>
                <a:latin typeface="Consolas"/>
              </a:rPr>
              <a:t>    TokenType.WHILE: </a:t>
            </a:r>
            <a:r>
              <a:rPr sz="1130">
                <a:solidFill>
                  <a:srgbClr val="8FB6EE"/>
                </a:solidFill>
                <a:latin typeface="Consolas"/>
              </a:rPr>
              <a:t>self.parse_while_stmt</a:t>
            </a:r>
            <a:r>
              <a:rPr sz="1130">
                <a:solidFill>
                  <a:srgbClr val="E7ECF5"/>
                </a:solidFill>
                <a:latin typeface="Consolas"/>
              </a:rPr>
              <a:t>,</a:t>
            </a:r>
          </a:p>
          <a:p>
            <a:pPr>
              <a:lnSpc>
                <a:spcPct val="140000"/>
              </a:lnSpc>
            </a:pPr>
            <a:r>
              <a:rPr sz="1130">
                <a:solidFill>
                  <a:srgbClr val="E7ECF5"/>
                </a:solidFill>
                <a:latin typeface="Consolas"/>
              </a:rPr>
              <a:t>    TokenType.PRINT: </a:t>
            </a:r>
            <a:r>
              <a:rPr sz="1130">
                <a:solidFill>
                  <a:srgbClr val="8FB6EE"/>
                </a:solidFill>
                <a:latin typeface="Consolas"/>
              </a:rPr>
              <a:t>self.parse_print_stmt</a:t>
            </a:r>
            <a:r>
              <a:rPr sz="1130">
                <a:solidFill>
                  <a:srgbClr val="E7ECF5"/>
                </a:solidFill>
                <a:latin typeface="Consolas"/>
              </a:rPr>
              <a:t>,</a:t>
            </a:r>
          </a:p>
          <a:p>
            <a:pPr>
              <a:lnSpc>
                <a:spcPct val="140000"/>
              </a:lnSpc>
            </a:pPr>
            <a:r>
              <a:rPr sz="1130">
                <a:solidFill>
                  <a:srgbClr val="E7ECF5"/>
                </a:solidFill>
                <a:latin typeface="Consolas"/>
              </a:rPr>
              <a:t>}</a:t>
            </a:r>
          </a:p>
          <a:p>
            <a:pPr>
              <a:lnSpc>
                <a:spcPct val="140000"/>
              </a:lnSpc>
            </a:pPr>
            <a:r>
              <a:rPr sz="1130">
                <a:solidFill>
                  <a:srgbClr val="E7ECF5"/>
                </a:solidFill>
                <a:latin typeface="Consolas"/>
              </a:rPr>
              <a:t>handler = dispatch.get(</a:t>
            </a:r>
            <a:r>
              <a:rPr sz="1130">
                <a:solidFill>
                  <a:srgbClr val="F0C46E"/>
                </a:solidFill>
                <a:latin typeface="Consolas"/>
              </a:rPr>
              <a:t>self.current().type</a:t>
            </a:r>
            <a:r>
              <a:rPr sz="1130">
                <a:solidFill>
                  <a:srgbClr val="E7ECF5"/>
                </a:solidFill>
                <a:latin typeface="Consolas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16636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8993A3"/>
                </a:solidFill>
                <a:latin typeface="Segoe UI"/>
              </a:rPr>
              <a:t>One dedicated function per non-terminal — the runtime call stack literally mirrors the AST being built.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algorithm.ll1   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249424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PREDICTIVE PARSING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Deterministic execution, zero backtracking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2494711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6384" y="229514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D4FC4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715768"/>
            <a:ext cx="22021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044952"/>
            <a:ext cx="2202103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Initialize the token pointer.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4791" y="26791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993A3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5687" y="2148840"/>
            <a:ext cx="2494711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91991" y="229514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D4FC4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1991" y="2715768"/>
            <a:ext cx="22021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1991" y="3044952"/>
            <a:ext cx="2202103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Consult FIRST / FOLLOW 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399" y="26791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993A3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1295" y="2148840"/>
            <a:ext cx="2494711" cy="1371600"/>
          </a:xfrm>
          <a:prstGeom prst="roundRect">
            <a:avLst>
              <a:gd name="adj" fmla="val 9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97599" y="229514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D4FC4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7599" y="2715768"/>
            <a:ext cx="22021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3044952"/>
            <a:ext cx="2202103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Invoke the chosen production path.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6007" y="26791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993A3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6903" y="2148840"/>
            <a:ext cx="2494711" cy="1371600"/>
          </a:xfrm>
          <a:prstGeom prst="roundRect">
            <a:avLst>
              <a:gd name="adj" fmla="val 9000"/>
            </a:avLst>
          </a:prstGeom>
          <a:solidFill>
            <a:srgbClr val="FC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03207" y="229514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C2626"/>
                </a:solidFill>
                <a:latin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3207" y="2715768"/>
            <a:ext cx="22021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Error dispatch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3207" y="3044952"/>
            <a:ext cx="2202103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Handle an invalid lookahead.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77639"/>
            <a:ext cx="3515258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123944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489704"/>
            <a:ext cx="3149498" cy="12618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4B5768"/>
                </a:solidFill>
                <a:latin typeface="Segoe UI"/>
              </a:rPr>
              <a:t>expect() / advance() — consume the current token, move the pointer forward.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8218" y="3977639"/>
            <a:ext cx="3515258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1098" y="4123944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Recurse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1098" y="4489704"/>
            <a:ext cx="3149498" cy="12618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4B5768"/>
                </a:solidFill>
                <a:latin typeface="Segoe UI"/>
              </a:rPr>
              <a:t>Invoke the dedicated function for the chosen non-terminal.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36356" y="3977639"/>
            <a:ext cx="3515258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9236" y="4123944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Epsilon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9236" y="4489704"/>
            <a:ext cx="3149498" cy="12618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4B5768"/>
                </a:solidFill>
                <a:latin typeface="Segoe UI"/>
              </a:rPr>
              <a:t>Resolve valid ε-productions (e.g. elsePart) without consuming input.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flowchart.md   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093976" cy="310896"/>
          </a:xfrm>
          <a:prstGeom prst="roundRect">
            <a:avLst>
              <a:gd name="adj" fmla="val 50000"/>
            </a:avLst>
          </a:prstGeom>
          <a:solidFill>
            <a:srgbClr val="DD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0E9F6E"/>
                </a:solidFill>
                <a:latin typeface="Consolas"/>
              </a:rPr>
              <a:t>CORRECTNESS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FIRST and FOLLOW sets are the routing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50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768"/>
                </a:solidFill>
                <a:latin typeface="Segoe UI"/>
              </a:rPr>
              <a:t>Computed by generic fixed-point algorithms in grammar.py — captured live, not hand-filled.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6296811" cy="4343400"/>
          </a:xfrm>
          <a:prstGeom prst="roundRect">
            <a:avLst>
              <a:gd name="adj" fmla="val 3000"/>
            </a:avLst>
          </a:prstGeom>
          <a:solidFill>
            <a:srgbClr val="EEF2F8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19" y="2058797"/>
            <a:ext cx="64008" cy="64008"/>
          </a:xfrm>
          <a:prstGeom prst="ellipse">
            <a:avLst/>
          </a:prstGeom>
          <a:solidFill>
            <a:srgbClr val="E3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058797"/>
            <a:ext cx="64008" cy="6400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7" y="2058797"/>
            <a:ext cx="64008" cy="64008"/>
          </a:xfrm>
          <a:prstGeom prst="ellipse">
            <a:avLst/>
          </a:prstGeom>
          <a:solidFill>
            <a:srgbClr val="8F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b_grammar_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2215642"/>
            <a:ext cx="6150507" cy="396055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0" y="1965960"/>
            <a:ext cx="3776472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112264"/>
            <a:ext cx="3410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Set categorization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78024"/>
            <a:ext cx="3410712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4B5768"/>
                </a:solidFill>
                <a:latin typeface="Segoe UI"/>
              </a:rPr>
              <a:t>Program &amp; statement sets fix valid starting tokens (INT, ID, IF, WHILE, PRINT, {); every statement's FOLLOW set spans the same set plus EOF and RBRACE.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160520"/>
            <a:ext cx="3776472" cy="2148840"/>
          </a:xfrm>
          <a:prstGeom prst="roundRect">
            <a:avLst>
              <a:gd name="adj" fmla="val 7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43434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D4FC4"/>
                </a:solidFill>
                <a:latin typeface="Segoe UI"/>
              </a:rPr>
              <a:t>Epsilon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470916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111827"/>
                </a:solidFill>
                <a:latin typeface="Segoe UI"/>
              </a:rPr>
              <a:t>If ε is valid in a FIRST set, the parser consults FOLLOW to safely bypass the production without a false syntax error.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sets.first_follow   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171700" cy="310896"/>
          </a:xfrm>
          <a:prstGeom prst="roundRect">
            <a:avLst>
              <a:gd name="adj" fmla="val 50000"/>
            </a:avLst>
          </a:prstGeom>
          <a:solidFill>
            <a:srgbClr val="DD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0E9F6E"/>
                </a:solidFill>
                <a:latin typeface="Consolas"/>
              </a:rPr>
              <a:t>CORRECTNESS OF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The parsing table is verified conflict-free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350215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9424"/>
            <a:ext cx="35021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4FC4"/>
                </a:solidFill>
                <a:latin typeface="Consolas"/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145536"/>
            <a:ext cx="339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8993A3"/>
                </a:solidFill>
                <a:latin typeface="Segoe UI"/>
              </a:rPr>
              <a:t>PARSING TABLE ENTRIES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2103120"/>
            <a:ext cx="350215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2249424"/>
            <a:ext cx="35021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0E9F6E"/>
                </a:solidFill>
                <a:latin typeface="Consola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3145536"/>
            <a:ext cx="339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8993A3"/>
                </a:solidFill>
                <a:latin typeface="Segoe UI"/>
              </a:rPr>
              <a:t>GRAMMAR CONFLICTS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2103120"/>
            <a:ext cx="3502152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0144" y="2249424"/>
            <a:ext cx="35021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11827"/>
                </a:solidFill>
                <a:latin typeface="Consolas"/>
              </a:rPr>
              <a:t>LL(1)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3145536"/>
            <a:ext cx="339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8993A3"/>
                </a:solidFill>
                <a:latin typeface="Segoe UI"/>
              </a:rPr>
              <a:t>STRICT COMPLIANCE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1092708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849624"/>
            <a:ext cx="10561319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30" b="0" i="0">
                <a:solidFill>
                  <a:srgbClr val="4B5768"/>
                </a:solidFill>
                <a:latin typeface="Segoe UI"/>
              </a:rPr>
              <a:t>The grammar exhibits no FIRST/FIRST or FIRST/FOLLOW overlap anywhere in its production set, so every cell of the table names exactly one production — table construction raises immediately on conflict, which is how the grammar is proven LL(1), not just asserted.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74920"/>
            <a:ext cx="10927080" cy="1051560"/>
          </a:xfrm>
          <a:prstGeom prst="roundRect">
            <a:avLst>
              <a:gd name="adj" fmla="val 7000"/>
            </a:avLst>
          </a:prstGeom>
          <a:solidFill>
            <a:srgbClr val="DD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221224"/>
            <a:ext cx="105613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F6E"/>
                </a:solidFill>
                <a:latin typeface="Segoe UI"/>
              </a:rPr>
              <a:t>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586984"/>
            <a:ext cx="10561319" cy="393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30" b="0" i="0">
                <a:solidFill>
                  <a:srgbClr val="4B5768"/>
                </a:solidFill>
                <a:latin typeface="Segoe UI"/>
              </a:rPr>
              <a:t>This claim is backed by an automated pytest check (test_grammar.py-style assertion) plus 21 tests covering valid programs, syntax errors, and edge cases — all passing.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table.verify   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472184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Two recovery primitives implement the whole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5394960" cy="3977639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276856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492AB"/>
                </a:solidFill>
                <a:latin typeface="Consolas"/>
              </a:rPr>
              <a:t>parser.py — the two recovery primitives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59" y="2569464"/>
            <a:ext cx="5029201" cy="0"/>
          </a:xfrm>
          <a:prstGeom prst="line">
            <a:avLst/>
          </a:prstGeom>
          <a:ln w="635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59" y="2679192"/>
            <a:ext cx="5029200" cy="3319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060">
                <a:solidFill>
                  <a:srgbClr val="8FB6EE"/>
                </a:solidFill>
                <a:latin typeface="Consolas"/>
              </a:rPr>
              <a:t>def </a:t>
            </a:r>
            <a:r>
              <a:rPr sz="1060">
                <a:solidFill>
                  <a:srgbClr val="86E0A6"/>
                </a:solidFill>
                <a:latin typeface="Consolas"/>
              </a:rPr>
              <a:t>expect</a:t>
            </a:r>
            <a:r>
              <a:rPr sz="1060">
                <a:solidFill>
                  <a:srgbClr val="E7ECF5"/>
                </a:solidFill>
                <a:latin typeface="Consolas"/>
              </a:rPr>
              <a:t>(self, ttype):</a:t>
            </a:r>
          </a:p>
          <a:p>
            <a:pPr>
              <a:lnSpc>
                <a:spcPct val="140000"/>
              </a:lnSpc>
            </a:pPr>
            <a:r>
              <a:rPr sz="1060">
                <a:solidFill>
                  <a:srgbClr val="E7ECF5"/>
                </a:solidFill>
                <a:latin typeface="Consolas"/>
              </a:rPr>
              <a:t>    </a:t>
            </a:r>
            <a:r>
              <a:rPr sz="1060">
                <a:solidFill>
                  <a:srgbClr val="8FB6EE"/>
                </a:solidFill>
                <a:latin typeface="Consolas"/>
              </a:rPr>
              <a:t>if</a:t>
            </a:r>
            <a:r>
              <a:rPr sz="1060">
                <a:solidFill>
                  <a:srgbClr val="E7ECF5"/>
                </a:solidFill>
                <a:latin typeface="Consolas"/>
              </a:rPr>
              <a:t> self.check(ttype):</a:t>
            </a:r>
          </a:p>
          <a:p>
            <a:pPr>
              <a:lnSpc>
                <a:spcPct val="140000"/>
              </a:lnSpc>
            </a:pPr>
            <a:r>
              <a:rPr sz="1060">
                <a:solidFill>
                  <a:srgbClr val="8492AB"/>
                </a:solidFill>
                <a:latin typeface="Consolas"/>
              </a:rPr>
              <a:t>        return self.leaf(self.advance())</a:t>
            </a:r>
          </a:p>
          <a:p>
            <a:pPr>
              <a:lnSpc>
                <a:spcPct val="140000"/>
              </a:lnSpc>
            </a:pPr>
            <a:r>
              <a:rPr sz="1060">
                <a:solidFill>
                  <a:srgbClr val="E7ECF5"/>
                </a:solidFill>
                <a:latin typeface="Consolas"/>
              </a:rPr>
              <a:t>    self.report(ParseError(...))   </a:t>
            </a:r>
            <a:r>
              <a:rPr sz="1060">
                <a:solidFill>
                  <a:srgbClr val="F0C46E"/>
                </a:solidFill>
                <a:latin typeface="Consolas"/>
              </a:rPr>
              <a:t># phrase-level</a:t>
            </a:r>
          </a:p>
          <a:p>
            <a:pPr>
              <a:lnSpc>
                <a:spcPct val="140000"/>
              </a:lnSpc>
            </a:pPr>
            <a:r>
              <a:rPr sz="1060">
                <a:solidFill>
                  <a:srgbClr val="E7ECF5"/>
                </a:solidFill>
                <a:latin typeface="Consolas"/>
              </a:rPr>
              <a:t>    return ParseTreeNode(</a:t>
            </a:r>
            <a:r>
              <a:rPr sz="1060">
                <a:solidFill>
                  <a:srgbClr val="86E0A6"/>
                </a:solidFill>
                <a:latin typeface="Consolas"/>
              </a:rPr>
              <a:t>f"&lt;missing {ttype}&gt;"</a:t>
            </a:r>
            <a:r>
              <a:rPr sz="1060">
                <a:solidFill>
                  <a:srgbClr val="E7ECF5"/>
                </a:solidFill>
                <a:latin typeface="Consolas"/>
              </a:rPr>
              <a:t>)</a:t>
            </a:r>
          </a:p>
          <a:p>
            <a:pPr>
              <a:lnSpc>
                <a:spcPct val="140000"/>
              </a:lnSpc>
            </a:pPr>
            <a:r>
              <a:rPr sz="1060">
                <a:solidFill>
                  <a:srgbClr val="E7ECF5"/>
                </a:solidFill>
                <a:latin typeface="Consolas"/>
              </a:rPr>
              <a:t/>
            </a:r>
          </a:p>
          <a:p>
            <a:pPr>
              <a:lnSpc>
                <a:spcPct val="140000"/>
              </a:lnSpc>
            </a:pPr>
            <a:r>
              <a:rPr sz="1060">
                <a:solidFill>
                  <a:srgbClr val="8FB6EE"/>
                </a:solidFill>
                <a:latin typeface="Consolas"/>
              </a:rPr>
              <a:t>def </a:t>
            </a:r>
            <a:r>
              <a:rPr sz="1060">
                <a:solidFill>
                  <a:srgbClr val="86E0A6"/>
                </a:solidFill>
                <a:latin typeface="Consolas"/>
              </a:rPr>
              <a:t>synchronize</a:t>
            </a:r>
            <a:r>
              <a:rPr sz="1060">
                <a:solidFill>
                  <a:srgbClr val="E7ECF5"/>
                </a:solidFill>
                <a:latin typeface="Consolas"/>
              </a:rPr>
              <a:t>(self, terminator):  </a:t>
            </a:r>
            <a:r>
              <a:rPr sz="1060">
                <a:solidFill>
                  <a:srgbClr val="F0C46E"/>
                </a:solidFill>
                <a:latin typeface="Consolas"/>
              </a:rPr>
              <a:t># panic-mode</a:t>
            </a:r>
          </a:p>
          <a:p>
            <a:pPr>
              <a:lnSpc>
                <a:spcPct val="140000"/>
              </a:lnSpc>
            </a:pPr>
            <a:r>
              <a:rPr sz="1060">
                <a:solidFill>
                  <a:srgbClr val="E7ECF5"/>
                </a:solidFill>
                <a:latin typeface="Consolas"/>
              </a:rPr>
              <a:t>    </a:t>
            </a:r>
            <a:r>
              <a:rPr sz="1060">
                <a:solidFill>
                  <a:srgbClr val="8FB6EE"/>
                </a:solidFill>
                <a:latin typeface="Consolas"/>
              </a:rPr>
              <a:t>while</a:t>
            </a:r>
            <a:r>
              <a:rPr sz="1060">
                <a:solidFill>
                  <a:srgbClr val="E7ECF5"/>
                </a:solidFill>
                <a:latin typeface="Consolas"/>
              </a:rPr>
              <a:t> not self.check(EOF):</a:t>
            </a:r>
          </a:p>
          <a:p>
            <a:pPr>
              <a:lnSpc>
                <a:spcPct val="140000"/>
              </a:lnSpc>
            </a:pPr>
            <a:r>
              <a:rPr sz="1060">
                <a:solidFill>
                  <a:srgbClr val="8492AB"/>
                </a:solidFill>
                <a:latin typeface="Consolas"/>
              </a:rPr>
              <a:t>        if self.check(SEMI): advance(); return</a:t>
            </a:r>
          </a:p>
          <a:p>
            <a:pPr>
              <a:lnSpc>
                <a:spcPct val="140000"/>
              </a:lnSpc>
            </a:pPr>
            <a:r>
              <a:rPr sz="1060">
                <a:solidFill>
                  <a:srgbClr val="8492AB"/>
                </a:solidFill>
                <a:latin typeface="Consolas"/>
              </a:rPr>
              <a:t>        if token in FIRST_STATEMENT: return</a:t>
            </a:r>
          </a:p>
          <a:p>
            <a:pPr>
              <a:lnSpc>
                <a:spcPct val="140000"/>
              </a:lnSpc>
            </a:pPr>
            <a:r>
              <a:rPr sz="1060">
                <a:solidFill>
                  <a:srgbClr val="E7ECF5"/>
                </a:solidFill>
                <a:latin typeface="Consolas"/>
              </a:rPr>
              <a:t>        self.advance()   </a:t>
            </a:r>
            <a:r>
              <a:rPr sz="1060">
                <a:solidFill>
                  <a:srgbClr val="F0C46E"/>
                </a:solidFill>
                <a:latin typeface="Consolas"/>
              </a:rPr>
              <a:t># skip garbage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48840"/>
            <a:ext cx="5285232" cy="3859553"/>
          </a:xfrm>
          <a:prstGeom prst="roundRect">
            <a:avLst>
              <a:gd name="adj" fmla="val 3000"/>
            </a:avLst>
          </a:prstGeom>
          <a:solidFill>
            <a:srgbClr val="EEF2F8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55079" y="2253996"/>
            <a:ext cx="64008" cy="64008"/>
          </a:xfrm>
          <a:prstGeom prst="ellipse">
            <a:avLst/>
          </a:prstGeom>
          <a:solidFill>
            <a:srgbClr val="E3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01383" y="2253996"/>
            <a:ext cx="64008" cy="6400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7688" y="2253996"/>
            <a:ext cx="64008" cy="64008"/>
          </a:xfrm>
          <a:prstGeom prst="ellipse">
            <a:avLst/>
          </a:prstGeom>
          <a:solidFill>
            <a:srgbClr val="8F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5_walkthrough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423160"/>
            <a:ext cx="5138928" cy="34389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6063257"/>
            <a:ext cx="5285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8993A3"/>
                </a:solidFill>
                <a:latin typeface="Segoe UI"/>
              </a:rPr>
              <a:t>Real trace: both primitives firing on one input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primitives.py   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171700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CORRECTNESS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The parse tree reveals precedence and nesting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50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768"/>
                </a:solidFill>
                <a:latin typeface="Segoe UI"/>
              </a:rPr>
              <a:t>The real “Parse tree” tab for the built-in valid-program example — count from 0 to 5, printing each 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6903720" cy="3236214"/>
          </a:xfrm>
          <a:prstGeom prst="roundRect">
            <a:avLst>
              <a:gd name="adj" fmla="val 3000"/>
            </a:avLst>
          </a:prstGeom>
          <a:solidFill>
            <a:srgbClr val="EEF2F8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19" y="2162556"/>
            <a:ext cx="64008" cy="64008"/>
          </a:xfrm>
          <a:prstGeom prst="ellipse">
            <a:avLst/>
          </a:prstGeom>
          <a:solidFill>
            <a:srgbClr val="E3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162556"/>
            <a:ext cx="64008" cy="6400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7" y="2162556"/>
            <a:ext cx="64008" cy="64008"/>
          </a:xfrm>
          <a:prstGeom prst="ellipse">
            <a:avLst/>
          </a:prstGeom>
          <a:solidFill>
            <a:srgbClr val="8F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tree_vali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2331720"/>
            <a:ext cx="6757416" cy="281559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0" y="2057400"/>
            <a:ext cx="3776472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203704"/>
            <a:ext cx="3410712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4B5768"/>
                </a:solidFill>
                <a:latin typeface="Segoe UI"/>
              </a:rPr>
              <a:t>STAR/PLUS group inside term/expr before the outer statement combines them — precedence falls directly out of the grammar's shape, with no separate precedence table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160520"/>
            <a:ext cx="3776472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306824"/>
            <a:ext cx="3776472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D4FC4"/>
                </a:solidFill>
                <a:latin typeface="Consolas"/>
              </a:rPr>
              <a:t>52 nodes · depth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5065776"/>
            <a:ext cx="3666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8993A3"/>
                </a:solidFill>
                <a:latin typeface="Segoe UI"/>
              </a:rPr>
              <a:t>FULL VALID-RUN DERIVATION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tree.precedence   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016252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ERROR RECOVERY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Four classical strategies — Parse Bench implements two, deliberately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50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768"/>
                </a:solidFill>
                <a:latin typeface="Segoe UI"/>
              </a:rPr>
              <a:t>The standard compiler-theory taxonomy of syntax error recovery, and why two of the four are the right fit for an LL(1) recursive-descent parser.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949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579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Segoe UI"/>
              </a:rPr>
              <a:t>Panic-mode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214884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DD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0E9F6E"/>
                </a:solidFill>
                <a:latin typeface="Consolas"/>
              </a:rPr>
              <a:t>IN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23744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4B5768"/>
                </a:solidFill>
                <a:latin typeface="Segoe UI"/>
              </a:rPr>
              <a:t>Discard input symbols one at a time until a designated set of “synchronizing” tokens is found (e.g. ';' or a statement-starting keyword). Simple, and guaranteed to terminate.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478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1">
                <a:solidFill>
                  <a:srgbClr val="0E9F6E"/>
                </a:solidFill>
                <a:latin typeface="Segoe UI"/>
              </a:rPr>
              <a:t>Implemented as synchronize() — the parser's Tier 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11680"/>
            <a:ext cx="53949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579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Segoe UI"/>
              </a:rPr>
              <a:t>Phrase-level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214884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DD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0E9F6E"/>
                </a:solidFill>
                <a:latin typeface="Consolas"/>
              </a:rPr>
              <a:t>IN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23744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4B5768"/>
                </a:solidFill>
                <a:latin typeface="Segoe UI"/>
              </a:rPr>
              <a:t>On detecting a local error, perform a local correction on the remaining input — e.g. treat a missing ';' as if it were there and continue parsing.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5478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1">
                <a:solidFill>
                  <a:srgbClr val="0E9F6E"/>
                </a:solidFill>
                <a:latin typeface="Segoe UI"/>
              </a:rPr>
              <a:t>Implemented as the “soft” expect() — the parser's Tier 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53949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2153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Segoe UI"/>
              </a:rPr>
              <a:t>Error productions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42062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8993A3"/>
                </a:solidFill>
                <a:latin typeface="Consolas"/>
              </a:rPr>
              <a:t>NOT 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581144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4B5768"/>
                </a:solidFill>
                <a:latin typeface="Segoe UI"/>
              </a:rPr>
              <a:t>Anticipate common mistakes and add explicit rules for them directly into the grammar, so the parser handles an error like any other construct.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56052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1">
                <a:solidFill>
                  <a:srgbClr val="8993A3"/>
                </a:solidFill>
                <a:latin typeface="Segoe UI"/>
              </a:rPr>
              <a:t>Would pollute the formally clean BNF the LL(1) proof depends 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069080"/>
            <a:ext cx="53949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2153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Segoe UI"/>
              </a:rPr>
              <a:t>Global correction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20" y="42062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8993A3"/>
                </a:solidFill>
                <a:latin typeface="Consolas"/>
              </a:rPr>
              <a:t>NOT 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581144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4B5768"/>
                </a:solidFill>
                <a:latin typeface="Segoe UI"/>
              </a:rPr>
              <a:t>Given an incorrect input and a grammar, compute the closest correct program — the minimum sequence of insert/delete/change edits — typically over the whole input.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60527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1">
                <a:solidFill>
                  <a:srgbClr val="8993A3"/>
                </a:solidFill>
                <a:latin typeface="Segoe UI"/>
              </a:rPr>
              <a:t>Computationally expensive; rarely used outside theory.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recovery.theory   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472184" cy="310896"/>
          </a:xfrm>
          <a:prstGeom prst="roundRect">
            <a:avLst>
              <a:gd name="adj" fmla="val 50000"/>
            </a:avLst>
          </a:prstGeom>
          <a:solidFill>
            <a:srgbClr val="FC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DC2626"/>
                </a:solidFill>
                <a:latin typeface="Consolas"/>
              </a:rPr>
              <a:t>ERROR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A dual-tier architecture, not a fail-fast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50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768"/>
                </a:solidFill>
                <a:latin typeface="Segoe UI"/>
              </a:rPr>
              <a:t>Standard parsers halt on the first fault, losing every token of context after it. Parse Bench keeps internal state to surface multiple errors in one pass.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539496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52374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D4FC4"/>
                </a:solidFill>
                <a:latin typeface="Segoe UI"/>
              </a:rPr>
              <a:t>Tier 1 · Phrase-level (“soft expect”)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2F6FED"/>
                </a:solidFill>
                <a:latin typeface="Segoe UI"/>
              </a:rPr>
              <a:t>›  </a:t>
            </a:r>
            <a:r>
              <a:rPr sz="1150">
                <a:solidFill>
                  <a:srgbClr val="4B5768"/>
                </a:solidFill>
                <a:latin typeface="Segoe UI"/>
              </a:rPr>
              <a:t>Used for an expected-but-missing closing/terminating token (e.g. a missing ';' or ')').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2F6FED"/>
                </a:solidFill>
                <a:latin typeface="Segoe UI"/>
              </a:rPr>
              <a:t>›  </a:t>
            </a:r>
            <a:r>
              <a:rPr sz="1150">
                <a:solidFill>
                  <a:srgbClr val="4B5768"/>
                </a:solidFill>
                <a:latin typeface="Segoe UI"/>
              </a:rPr>
              <a:t>Reports the error but does NOT raise — pretends the token was there and keeps parsing.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2F6FED"/>
                </a:solidFill>
                <a:latin typeface="Segoe UI"/>
              </a:rPr>
              <a:t>›  </a:t>
            </a:r>
            <a:r>
              <a:rPr sz="1150">
                <a:solidFill>
                  <a:srgbClr val="4B5768"/>
                </a:solidFill>
                <a:latin typeface="Segoe UI"/>
              </a:rPr>
              <a:t>Injects a &lt;missing X&gt; node so the AST stays structurally 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377440"/>
            <a:ext cx="539496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52374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626"/>
                </a:solidFill>
                <a:latin typeface="Segoe UI"/>
              </a:rPr>
              <a:t>Tier 2 · Panic-mode (hard dispatch failure)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88036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DC2626"/>
                </a:solidFill>
                <a:latin typeface="Segoe UI"/>
              </a:rPr>
              <a:t>›  </a:t>
            </a:r>
            <a:r>
              <a:rPr sz="1150">
                <a:solidFill>
                  <a:srgbClr val="4B5768"/>
                </a:solidFill>
                <a:latin typeface="Segoe UI"/>
              </a:rPr>
              <a:t>Used when the current token can't start ANY valid construct.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DC2626"/>
                </a:solidFill>
                <a:latin typeface="Segoe UI"/>
              </a:rPr>
              <a:t>›  </a:t>
            </a:r>
            <a:r>
              <a:rPr sz="1150">
                <a:solidFill>
                  <a:srgbClr val="4B5768"/>
                </a:solidFill>
                <a:latin typeface="Segoe UI"/>
              </a:rPr>
              <a:t>Abandons the current statement; synchronize() skips tokens until one in FIRST(statement) or a matching '}'.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DC2626"/>
                </a:solidFill>
                <a:latin typeface="Segoe UI"/>
              </a:rPr>
              <a:t>›  </a:t>
            </a:r>
            <a:r>
              <a:rPr sz="1150">
                <a:solidFill>
                  <a:srgbClr val="4B5768"/>
                </a:solidFill>
                <a:latin typeface="Segoe UI"/>
              </a:rPr>
              <a:t>A stray '}' with nothing open to close is skipped as garbage, not treated as safe — fixed after a real infinite-loop bug.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440680"/>
            <a:ext cx="10927080" cy="7772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378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827"/>
                </a:solidFill>
                <a:latin typeface="Segoe UI"/>
              </a:rPr>
              <a:t>Both mechanisms are exercised together in the walkthrough that follows — on one real input, not two separate toy examples.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recovery.md   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482596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PHRASE-LEVEL RECOVERY,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A real run: “x = 5” with no semicolon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5394960" cy="2743200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276856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492AB"/>
                </a:solidFill>
                <a:latin typeface="Consolas"/>
              </a:rPr>
              <a:t>The exact input typed into the app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59" y="2569464"/>
            <a:ext cx="5029201" cy="0"/>
          </a:xfrm>
          <a:prstGeom prst="line">
            <a:avLst/>
          </a:prstGeom>
          <a:ln w="635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59" y="2679192"/>
            <a:ext cx="5029200" cy="2084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160">
                <a:solidFill>
                  <a:srgbClr val="8492AB"/>
                </a:solidFill>
                <a:latin typeface="Consolas"/>
              </a:rPr>
              <a:t>STREAM.TOK</a:t>
            </a:r>
          </a:p>
          <a:p>
            <a:pPr>
              <a:lnSpc>
                <a:spcPct val="140000"/>
              </a:lnSpc>
            </a:pPr>
            <a:r>
              <a:rPr sz="1160">
                <a:solidFill>
                  <a:srgbClr val="E7ECF5"/>
                </a:solidFill>
                <a:latin typeface="Consolas"/>
              </a:rPr>
              <a:t>INT ID(x) SEMI</a:t>
            </a:r>
          </a:p>
          <a:p>
            <a:pPr>
              <a:lnSpc>
                <a:spcPct val="140000"/>
              </a:lnSpc>
            </a:pPr>
            <a:r>
              <a:rPr sz="1160">
                <a:solidFill>
                  <a:srgbClr val="E7ECF5"/>
                </a:solidFill>
                <a:latin typeface="Consolas"/>
              </a:rPr>
              <a:t>ID(x) ASSIGN NUM(5)   </a:t>
            </a:r>
            <a:r>
              <a:rPr sz="1160">
                <a:solidFill>
                  <a:srgbClr val="F0C46E"/>
                </a:solidFill>
                <a:latin typeface="Consolas"/>
              </a:rPr>
              <a:t># no SEMI here</a:t>
            </a:r>
          </a:p>
          <a:p>
            <a:pPr>
              <a:lnSpc>
                <a:spcPct val="140000"/>
              </a:lnSpc>
            </a:pPr>
            <a:r>
              <a:rPr sz="1160">
                <a:solidFill>
                  <a:srgbClr val="E7ECF5"/>
                </a:solidFill>
                <a:latin typeface="Consolas"/>
              </a:rPr>
              <a:t>NUM(9) SEMI</a:t>
            </a:r>
          </a:p>
          <a:p>
            <a:pPr>
              <a:lnSpc>
                <a:spcPct val="140000"/>
              </a:lnSpc>
            </a:pPr>
            <a:r>
              <a:rPr sz="1160">
                <a:solidFill>
                  <a:srgbClr val="E7ECF5"/>
                </a:solidFill>
                <a:latin typeface="Consolas"/>
              </a:rPr>
              <a:t>PRINT LPAREN ID(x) RPAREN SEMI</a:t>
            </a:r>
          </a:p>
          <a:p>
            <a:pPr>
              <a:lnSpc>
                <a:spcPct val="140000"/>
              </a:lnSpc>
            </a:pPr>
            <a:r>
              <a:rPr sz="1160">
                <a:solidFill>
                  <a:srgbClr val="E7ECF5"/>
                </a:solidFill>
                <a:latin typeface="Consolas"/>
              </a:rPr>
              <a:t/>
            </a:r>
          </a:p>
          <a:p>
            <a:pPr>
              <a:lnSpc>
                <a:spcPct val="140000"/>
              </a:lnSpc>
            </a:pPr>
            <a:r>
              <a:rPr sz="1160">
                <a:solidFill>
                  <a:srgbClr val="8492AB"/>
                </a:solidFill>
                <a:latin typeface="Consolas"/>
              </a:rPr>
              <a:t>&gt; </a:t>
            </a:r>
            <a:r>
              <a:rPr sz="1160">
                <a:solidFill>
                  <a:srgbClr val="F08C7E"/>
                </a:solidFill>
                <a:latin typeface="Consolas"/>
              </a:rPr>
              <a:t>Line 3: missing ';' - found '9' instead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29200"/>
            <a:ext cx="539496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517550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What happens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5541264"/>
            <a:ext cx="5029200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4B5768"/>
                </a:solidFill>
                <a:latin typeface="Segoe UI"/>
              </a:rPr>
              <a:t>expect(SEMI) sees '9' instead of ';'. It reports the error, does NOT consume '9', and returns a &lt;missing SEMI&gt; placeholder so assignStmt still completes.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48840"/>
            <a:ext cx="5285232" cy="2886271"/>
          </a:xfrm>
          <a:prstGeom prst="roundRect">
            <a:avLst>
              <a:gd name="adj" fmla="val 3000"/>
            </a:avLst>
          </a:prstGeom>
          <a:solidFill>
            <a:srgbClr val="EEF2F8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5079" y="2253996"/>
            <a:ext cx="64008" cy="64008"/>
          </a:xfrm>
          <a:prstGeom prst="ellipse">
            <a:avLst/>
          </a:prstGeom>
          <a:solidFill>
            <a:srgbClr val="E3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01383" y="2253996"/>
            <a:ext cx="64008" cy="6400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47688" y="2253996"/>
            <a:ext cx="64008" cy="64008"/>
          </a:xfrm>
          <a:prstGeom prst="ellipse">
            <a:avLst/>
          </a:prstGeom>
          <a:solidFill>
            <a:srgbClr val="8F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4_tree_dualti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423160"/>
            <a:ext cx="5138928" cy="246564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63640" y="5089975"/>
            <a:ext cx="5285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8993A3"/>
                </a:solidFill>
                <a:latin typeface="Segoe UI"/>
              </a:rPr>
              <a:t>Real tree: &lt;missing SEMI&gt; node, highlighted red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tier1.recovery   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27148" cy="310896"/>
          </a:xfrm>
          <a:prstGeom prst="roundRect">
            <a:avLst>
              <a:gd name="adj" fmla="val 50000"/>
            </a:avLst>
          </a:prstGeom>
          <a:solidFill>
            <a:srgbClr val="FC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DC2626"/>
                </a:solidFill>
                <a:latin typeface="Consolas"/>
              </a:rPr>
              <a:t>PANIC-MODE RECOVERY,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The same run: the stray '9' can't start a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5394960" cy="1965960"/>
          </a:xfrm>
          <a:prstGeom prst="roundRect">
            <a:avLst>
              <a:gd name="adj" fmla="val 4500"/>
            </a:avLst>
          </a:prstGeom>
          <a:solidFill>
            <a:srgbClr val="0B122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276856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492AB"/>
                </a:solidFill>
                <a:latin typeface="Consolas"/>
              </a:rPr>
              <a:t>PARSE_BENCH — real trace log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59" y="2569464"/>
            <a:ext cx="5029201" cy="0"/>
          </a:xfrm>
          <a:prstGeom prst="line">
            <a:avLst/>
          </a:prstGeom>
          <a:ln w="6350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59" y="2679192"/>
            <a:ext cx="5029200" cy="1307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50">
                <a:solidFill>
                  <a:srgbClr val="8492AB"/>
                </a:solidFill>
                <a:latin typeface="Consolas"/>
              </a:rPr>
              <a:t>&gt; </a:t>
            </a:r>
            <a:r>
              <a:rPr sz="1250">
                <a:solidFill>
                  <a:srgbClr val="F08C7E"/>
                </a:solidFill>
                <a:latin typeface="Consolas"/>
              </a:rPr>
              <a:t>Line 3: expected start of statement, but found '9'</a:t>
            </a:r>
          </a:p>
          <a:p>
            <a:pPr>
              <a:lnSpc>
                <a:spcPct val="140000"/>
              </a:lnSpc>
            </a:pPr>
            <a:r>
              <a:rPr sz="1250">
                <a:solidFill>
                  <a:srgbClr val="8492AB"/>
                </a:solidFill>
                <a:latin typeface="Consolas"/>
              </a:rPr>
              <a:t>&gt; </a:t>
            </a:r>
            <a:r>
              <a:rPr sz="1250">
                <a:solidFill>
                  <a:srgbClr val="F0C46E"/>
                </a:solidFill>
                <a:latin typeface="Consolas"/>
              </a:rPr>
              <a:t>Skipped '9' (NUM) — can't start a statement</a:t>
            </a:r>
          </a:p>
          <a:p>
            <a:pPr>
              <a:lnSpc>
                <a:spcPct val="140000"/>
              </a:lnSpc>
            </a:pPr>
            <a:r>
              <a:rPr sz="1250">
                <a:solidFill>
                  <a:srgbClr val="8492AB"/>
                </a:solidFill>
                <a:latin typeface="Consolas"/>
              </a:rPr>
              <a:t>&gt; </a:t>
            </a:r>
            <a:r>
              <a:rPr sz="1250">
                <a:solidFill>
                  <a:srgbClr val="86E0A6"/>
                </a:solidFill>
                <a:latin typeface="Consolas"/>
              </a:rPr>
              <a:t>Resumed parsing at ';' (SEMI)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53949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444398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What happens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809744"/>
            <a:ext cx="5029200" cy="12618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60" b="0" i="0">
                <a:solidFill>
                  <a:srgbClr val="4B5768"/>
                </a:solidFill>
                <a:latin typeface="Segoe UI"/>
              </a:rPr>
              <a:t>'9' (NUM) isn't in FIRST(statement), so parse_statement() raises. parse_stmt_sequence catches it, records an &lt;skipped '9'&gt; node, and calls synchronize() — which discards '9' and consumes the very next SEMI to resume cleanly.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48840"/>
            <a:ext cx="5285232" cy="2886271"/>
          </a:xfrm>
          <a:prstGeom prst="roundRect">
            <a:avLst>
              <a:gd name="adj" fmla="val 3000"/>
            </a:avLst>
          </a:prstGeom>
          <a:solidFill>
            <a:srgbClr val="EEF2F8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5079" y="2253996"/>
            <a:ext cx="64008" cy="64008"/>
          </a:xfrm>
          <a:prstGeom prst="ellipse">
            <a:avLst/>
          </a:prstGeom>
          <a:solidFill>
            <a:srgbClr val="E3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01383" y="2253996"/>
            <a:ext cx="64008" cy="6400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47688" y="2253996"/>
            <a:ext cx="64008" cy="64008"/>
          </a:xfrm>
          <a:prstGeom prst="ellipse">
            <a:avLst/>
          </a:prstGeom>
          <a:solidFill>
            <a:srgbClr val="8F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4_tree_dualti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423160"/>
            <a:ext cx="5138928" cy="246564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63640" y="5089975"/>
            <a:ext cx="5285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8993A3"/>
                </a:solidFill>
                <a:latin typeface="Segoe UI"/>
              </a:rPr>
              <a:t>Real tree: &lt;skipped '9'&gt; node beside the recovered assignStmt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tier2.recovery   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705356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RECOVERY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One real trace shows all four stages back to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50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768"/>
                </a:solidFill>
                <a:latin typeface="Segoe UI"/>
              </a:rPr>
              <a:t>Detect → Report → Synchronize → Continue — captured from the app's own step-by-step log, not staged.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969312" cy="4251960"/>
          </a:xfrm>
          <a:prstGeom prst="roundRect">
            <a:avLst>
              <a:gd name="adj" fmla="val 3000"/>
            </a:avLst>
          </a:prstGeom>
          <a:solidFill>
            <a:srgbClr val="EEF2F8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19" y="2095518"/>
            <a:ext cx="64008" cy="64008"/>
          </a:xfrm>
          <a:prstGeom prst="ellipse">
            <a:avLst/>
          </a:prstGeom>
          <a:solidFill>
            <a:srgbClr val="E3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095518"/>
            <a:ext cx="64008" cy="6400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7" y="2095518"/>
            <a:ext cx="64008" cy="64008"/>
          </a:xfrm>
          <a:prstGeom prst="ellipse">
            <a:avLst/>
          </a:prstGeom>
          <a:solidFill>
            <a:srgbClr val="8F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5_walkthrough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2243364"/>
            <a:ext cx="5823008" cy="389671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18120" y="2011680"/>
            <a:ext cx="3730752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157984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1 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523744"/>
            <a:ext cx="3364992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4B5768"/>
                </a:solidFill>
                <a:latin typeface="Segoe UI"/>
              </a:rPr>
              <a:t>current token fails expect() or matches no dispatch entry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063240"/>
            <a:ext cx="3730752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3209544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2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575304"/>
            <a:ext cx="3364992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4B5768"/>
                </a:solidFill>
                <a:latin typeface="Segoe UI"/>
              </a:rPr>
              <a:t>exact message appended to parser.errors, with line number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4114800"/>
            <a:ext cx="3730752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4261104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3 Synchronize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626864"/>
            <a:ext cx="3364992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4B5768"/>
                </a:solidFill>
                <a:latin typeface="Segoe UI"/>
              </a:rPr>
              <a:t>insert a placeholder node, or skip to FIRST(statement)/';'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5166360"/>
            <a:ext cx="3730752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5312664"/>
            <a:ext cx="33649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4 Continue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678424"/>
            <a:ext cx="3364992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 i="0">
                <a:solidFill>
                  <a:srgbClr val="4B5768"/>
                </a:solidFill>
                <a:latin typeface="Segoe UI"/>
              </a:rPr>
              <a:t>parsing resumes; later statements parse normally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recovery.flow   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093976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WEB INTERFACE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The actual live app — React + Vite, running locally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055092" cy="4297680"/>
          </a:xfrm>
          <a:prstGeom prst="roundRect">
            <a:avLst>
              <a:gd name="adj" fmla="val 3000"/>
            </a:avLst>
          </a:prstGeom>
          <a:solidFill>
            <a:srgbClr val="EEF2F8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19" y="2043202"/>
            <a:ext cx="64008" cy="64008"/>
          </a:xfrm>
          <a:prstGeom prst="ellipse">
            <a:avLst/>
          </a:prstGeom>
          <a:solidFill>
            <a:srgbClr val="E3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2043202"/>
            <a:ext cx="64008" cy="6400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7" y="2043202"/>
            <a:ext cx="64008" cy="64008"/>
          </a:xfrm>
          <a:prstGeom prst="ellipse">
            <a:avLst/>
          </a:prstGeom>
          <a:solidFill>
            <a:srgbClr val="8F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full_app_va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2184452"/>
            <a:ext cx="4908788" cy="396265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965960"/>
            <a:ext cx="4370832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19" y="2112264"/>
            <a:ext cx="40050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Step by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19" y="2478024"/>
            <a:ext cx="4005072" cy="1188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Replays the parser's own trace: Play/Pause/step/scrub.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834639"/>
            <a:ext cx="4370832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19" y="2980944"/>
            <a:ext cx="40050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Parse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19" y="3346703"/>
            <a:ext cx="4005072" cy="1188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Zoomable, syntax-highlighted by token category.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3703320"/>
            <a:ext cx="4370832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19" y="3849624"/>
            <a:ext cx="40050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4215384"/>
            <a:ext cx="4005072" cy="1188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Colour-coded token stream, category by category.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4572000"/>
            <a:ext cx="4370832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4718304"/>
            <a:ext cx="40050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Grammar &amp; LL(1)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5084064"/>
            <a:ext cx="4005072" cy="1188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Live FIRST/FOLLOW sets and table-entry count.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5440680"/>
            <a:ext cx="4370832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19" y="5586984"/>
            <a:ext cx="40050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Errors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5952744"/>
            <a:ext cx="4005072" cy="1188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4B5768"/>
                </a:solidFill>
                <a:latin typeface="Segoe UI"/>
              </a:rPr>
              <a:t>Every recovered error, with its line number.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interface.ui   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093976" cy="310896"/>
          </a:xfrm>
          <a:prstGeom prst="roundRect">
            <a:avLst>
              <a:gd name="adj" fmla="val 50000"/>
            </a:avLst>
          </a:prstGeom>
          <a:solidFill>
            <a:srgbClr val="DD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0E9F6E"/>
                </a:solidFill>
                <a:latin typeface="Consolas"/>
              </a:rPr>
              <a:t>DEMO 1 · VALID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The built-in “Valid program” preset parses without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6002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12264"/>
            <a:ext cx="160020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11827"/>
                </a:solidFill>
                <a:latin typeface="Consola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59689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8993A3"/>
                </a:solidFill>
                <a:latin typeface="Segoe UI"/>
              </a:rPr>
              <a:t>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965960"/>
            <a:ext cx="16002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2112264"/>
            <a:ext cx="160020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11827"/>
                </a:solidFill>
                <a:latin typeface="Consolas"/>
              </a:rPr>
              <a:t>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6584" y="259689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8993A3"/>
                </a:solidFill>
                <a:latin typeface="Segoe UI"/>
              </a:rPr>
              <a:t>NODES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1965960"/>
            <a:ext cx="16002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112264"/>
            <a:ext cx="160020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11827"/>
                </a:solidFill>
                <a:latin typeface="Consolas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259689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8993A3"/>
                </a:solidFill>
                <a:latin typeface="Segoe UI"/>
              </a:rPr>
              <a:t>DEPTH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965960"/>
            <a:ext cx="173736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2112264"/>
            <a:ext cx="173736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E9F6E"/>
                </a:solidFill>
                <a:latin typeface="Consola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864" y="2596896"/>
            <a:ext cx="16276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8993A3"/>
                </a:solidFill>
                <a:latin typeface="Segoe UI"/>
              </a:rPr>
              <a:t>RECOVERED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2212848"/>
            <a:ext cx="772668" cy="310896"/>
          </a:xfrm>
          <a:prstGeom prst="roundRect">
            <a:avLst>
              <a:gd name="adj" fmla="val 50000"/>
            </a:avLst>
          </a:prstGeom>
          <a:solidFill>
            <a:srgbClr val="DDF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E9F6E"/>
                </a:solidFill>
                <a:latin typeface="Consolas"/>
              </a:rPr>
              <a:t>VALID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63240"/>
            <a:ext cx="3928057" cy="3200400"/>
          </a:xfrm>
          <a:prstGeom prst="roundRect">
            <a:avLst>
              <a:gd name="adj" fmla="val 3000"/>
            </a:avLst>
          </a:prstGeom>
          <a:solidFill>
            <a:srgbClr val="EEF2F8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19" y="3079349"/>
            <a:ext cx="64008" cy="64008"/>
          </a:xfrm>
          <a:prstGeom prst="ellipse">
            <a:avLst/>
          </a:prstGeom>
          <a:solidFill>
            <a:srgbClr val="E3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3079349"/>
            <a:ext cx="64008" cy="6400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7" y="3079349"/>
            <a:ext cx="64008" cy="64008"/>
          </a:xfrm>
          <a:prstGeom prst="ellipse">
            <a:avLst/>
          </a:prstGeom>
          <a:solidFill>
            <a:srgbClr val="8F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1_full_app_va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3159467"/>
            <a:ext cx="3781753" cy="3052850"/>
          </a:xfrm>
          <a:prstGeom prst="rect">
            <a:avLst/>
          </a:prstGeom>
        </p:spPr>
      </p:pic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demo.valid   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3337560" cy="310896"/>
          </a:xfrm>
          <a:prstGeom prst="roundRect">
            <a:avLst>
              <a:gd name="adj" fmla="val 50000"/>
            </a:avLst>
          </a:prstGeom>
          <a:solidFill>
            <a:srgbClr val="FC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DC2626"/>
                </a:solidFill>
                <a:latin typeface="Consolas"/>
              </a:rPr>
              <a:t>DEMO 2 · DUAL-TIER RECOVERY IN ONE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A custom input triggers both phrase-level and panic-mode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46304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12264"/>
            <a:ext cx="14630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11827"/>
                </a:solidFill>
                <a:latin typeface="Consola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596896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8993A3"/>
                </a:solidFill>
                <a:latin typeface="Segoe UI"/>
              </a:rPr>
              <a:t>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965960"/>
            <a:ext cx="146304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2112264"/>
            <a:ext cx="14630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11827"/>
                </a:solidFill>
                <a:latin typeface="Consolas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9424" y="2596896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8993A3"/>
                </a:solidFill>
                <a:latin typeface="Segoe UI"/>
              </a:rPr>
              <a:t>NODES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965960"/>
            <a:ext cx="146304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112264"/>
            <a:ext cx="14630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11827"/>
                </a:solidFill>
                <a:latin typeface="Consola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3903" y="2596896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8993A3"/>
                </a:solidFill>
                <a:latin typeface="Segoe UI"/>
              </a:rPr>
              <a:t>DEPTH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965960"/>
            <a:ext cx="169164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112264"/>
            <a:ext cx="16916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DC2626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3" y="2596896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8993A3"/>
                </a:solidFill>
                <a:latin typeface="Segoe UI"/>
              </a:rPr>
              <a:t>RECOVERED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221284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C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DC2626"/>
                </a:solidFill>
                <a:latin typeface="Consolas"/>
              </a:rPr>
              <a:t>2 ERRORS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63240"/>
            <a:ext cx="6314987" cy="3200400"/>
          </a:xfrm>
          <a:prstGeom prst="roundRect">
            <a:avLst>
              <a:gd name="adj" fmla="val 3000"/>
            </a:avLst>
          </a:prstGeom>
          <a:solidFill>
            <a:srgbClr val="EEF2F8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19" y="3109717"/>
            <a:ext cx="64008" cy="64008"/>
          </a:xfrm>
          <a:prstGeom prst="ellipse">
            <a:avLst/>
          </a:prstGeom>
          <a:solidFill>
            <a:srgbClr val="E3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3109717"/>
            <a:ext cx="64008" cy="6400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7" y="3109717"/>
            <a:ext cx="64008" cy="64008"/>
          </a:xfrm>
          <a:prstGeom prst="ellipse">
            <a:avLst/>
          </a:prstGeom>
          <a:solidFill>
            <a:srgbClr val="8F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4_tree_dualti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3220203"/>
            <a:ext cx="6168683" cy="2959721"/>
          </a:xfrm>
          <a:prstGeom prst="rect">
            <a:avLst/>
          </a:prstGeom>
        </p:spPr>
      </p:pic>
      <p:cxnSp>
        <p:nvCxnSpPr>
          <p:cNvPr id="22" name="Connector 21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demo.dualtier   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705356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ERROR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Human-readable messages, not stack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50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768"/>
                </a:solidFill>
                <a:latin typeface="Segoe UI"/>
              </a:rPr>
              <a:t>The real “Errors” tab for the dual-tier example: two distinct causes, both on line 3, both correctly attributed.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2286000"/>
            <a:ext cx="8686800" cy="2803767"/>
          </a:xfrm>
          <a:prstGeom prst="roundRect">
            <a:avLst>
              <a:gd name="adj" fmla="val 3000"/>
            </a:avLst>
          </a:prstGeom>
          <a:solidFill>
            <a:srgbClr val="EEF2F8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0" y="2391156"/>
            <a:ext cx="64008" cy="64008"/>
          </a:xfrm>
          <a:prstGeom prst="ellipse">
            <a:avLst/>
          </a:prstGeom>
          <a:solidFill>
            <a:srgbClr val="E3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75104" y="2391156"/>
            <a:ext cx="64008" cy="6400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21408" y="2391156"/>
            <a:ext cx="64008" cy="64008"/>
          </a:xfrm>
          <a:prstGeom prst="ellipse">
            <a:avLst/>
          </a:prstGeom>
          <a:solidFill>
            <a:srgbClr val="8F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3_errors_dual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2560320"/>
            <a:ext cx="8540496" cy="23831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3736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8993A3"/>
                </a:solidFill>
                <a:latin typeface="Segoe UI"/>
              </a:rPr>
              <a:t>Both messages are produced by the same friendly-error machinery: token types are spelled out (“';'”, “an identifier”) instead of raw enum names.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errors.ui   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860804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LIMITS &amp;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Focused today, with a clear path forward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539496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34086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626"/>
                </a:solidFill>
                <a:latin typeface="Segoe UI"/>
              </a:rPr>
              <a:t>Current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DC2626"/>
                </a:solidFill>
                <a:latin typeface="Segoe UI"/>
              </a:rPr>
              <a:t>›  </a:t>
            </a:r>
            <a:r>
              <a:rPr sz="1150">
                <a:solidFill>
                  <a:srgbClr val="4B5768"/>
                </a:solidFill>
                <a:latin typeface="Segoe UI"/>
              </a:rPr>
              <a:t>No lexer by design — input is a token stream, not raw source text.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DC2626"/>
                </a:solidFill>
                <a:latin typeface="Segoe UI"/>
              </a:rPr>
              <a:t>›  </a:t>
            </a:r>
            <a:r>
              <a:rPr sz="1150">
                <a:solidFill>
                  <a:srgbClr val="4B5768"/>
                </a:solidFill>
                <a:latin typeface="Segoe UI"/>
              </a:rPr>
              <a:t>Checks syntax only — no type system, scope, or runtime semantics.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DC2626"/>
                </a:solidFill>
                <a:latin typeface="Segoe UI"/>
              </a:rPr>
              <a:t>›  </a:t>
            </a:r>
            <a:r>
              <a:rPr sz="1150">
                <a:solidFill>
                  <a:srgbClr val="4B5768"/>
                </a:solidFill>
                <a:latin typeface="Segoe UI"/>
              </a:rPr>
              <a:t>Covers a deliberately restricted, C-like statement/expression subset.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DC2626"/>
                </a:solidFill>
                <a:latin typeface="Segoe UI"/>
              </a:rPr>
              <a:t>›  </a:t>
            </a:r>
            <a:r>
              <a:rPr sz="1150">
                <a:solidFill>
                  <a:srgbClr val="4B5768"/>
                </a:solidFill>
                <a:latin typeface="Segoe UI"/>
              </a:rPr>
              <a:t>A wide tree can need the zoom/fit controls on very large programs.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194560"/>
            <a:ext cx="5394960" cy="3566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34086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9F6E"/>
                </a:solidFill>
                <a:latin typeface="Segoe UI"/>
              </a:rPr>
              <a:t>Practical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69748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0E9F6E"/>
                </a:solidFill>
                <a:latin typeface="Segoe UI"/>
              </a:rPr>
              <a:t>›  </a:t>
            </a:r>
            <a:r>
              <a:rPr sz="1150">
                <a:solidFill>
                  <a:srgbClr val="4B5768"/>
                </a:solidFill>
                <a:latin typeface="Segoe UI"/>
              </a:rPr>
              <a:t>Add a lexer so users can paste raw source code directly.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0E9F6E"/>
                </a:solidFill>
                <a:latin typeface="Segoe UI"/>
              </a:rPr>
              <a:t>›  </a:t>
            </a:r>
            <a:r>
              <a:rPr sz="1150">
                <a:solidFill>
                  <a:srgbClr val="4B5768"/>
                </a:solidFill>
                <a:latin typeface="Segoe UI"/>
              </a:rPr>
              <a:t>Add symbol-table and type checks after parsing.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0E9F6E"/>
                </a:solidFill>
                <a:latin typeface="Segoe UI"/>
              </a:rPr>
              <a:t>›  </a:t>
            </a:r>
            <a:r>
              <a:rPr sz="1150">
                <a:solidFill>
                  <a:srgbClr val="4B5768"/>
                </a:solidFill>
                <a:latin typeface="Segoe UI"/>
              </a:rPr>
              <a:t>Search, collapse and export large parse trees.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150" b="1">
                <a:solidFill>
                  <a:srgbClr val="0E9F6E"/>
                </a:solidFill>
                <a:latin typeface="Segoe UI"/>
              </a:rPr>
              <a:t>›  </a:t>
            </a:r>
            <a:r>
              <a:rPr sz="1150">
                <a:solidFill>
                  <a:srgbClr val="4B5768"/>
                </a:solidFill>
                <a:latin typeface="Segoe UI"/>
              </a:rPr>
              <a:t>Grammar editing with automated LL(1) conflict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97880"/>
            <a:ext cx="10927080" cy="50292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16752"/>
            <a:ext cx="10378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11827"/>
                </a:solidFill>
                <a:latin typeface="Segoe UI"/>
              </a:rPr>
              <a:t>The current scope keeps the core parser understandable; every extension builds on the same trace-and-tree foundation.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roadmap.md   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1161288" cy="310896"/>
          </a:xfrm>
          <a:prstGeom prst="roundRect">
            <a:avLst>
              <a:gd name="adj" fmla="val 5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1D4FC4"/>
                </a:solidFill>
                <a:latin typeface="Consola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827"/>
                </a:solidFill>
                <a:latin typeface="Segoe UI"/>
              </a:rPr>
              <a:t>Parse Bench makes syntax analysis explainable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3502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B5768"/>
                </a:solidFill>
                <a:latin typeface="Segoe UI"/>
              </a:rPr>
              <a:t>It connects three layers that are usually taught separately.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515258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234086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D4FC4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816352"/>
            <a:ext cx="31860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Segoe UI"/>
              </a:rPr>
              <a:t>Grammar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108960"/>
            <a:ext cx="318607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B5768"/>
                </a:solidFill>
                <a:latin typeface="Segoe UI"/>
              </a:rPr>
              <a:t>LL(1) rules and FIRST/FOLLOW decisions, computed live.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194560"/>
            <a:ext cx="3515258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2810" y="234086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D4FC4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2810" y="2816352"/>
            <a:ext cx="31860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Segoe UI"/>
              </a:rPr>
              <a:t>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2810" y="3108960"/>
            <a:ext cx="318607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B5768"/>
                </a:solidFill>
                <a:latin typeface="Segoe UI"/>
              </a:rPr>
              <a:t>A token-by-token recursive-descent trace, replayable.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2194560"/>
            <a:ext cx="3515258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00948" y="234086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D4FC4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0948" y="2816352"/>
            <a:ext cx="31860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Segoe UI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0948" y="3108960"/>
            <a:ext cx="318607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B5768"/>
                </a:solidFill>
                <a:latin typeface="Segoe UI"/>
              </a:rPr>
              <a:t>Parse trees, metrics, and recoverable errors, on screen.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927080" cy="868680"/>
          </a:xfrm>
          <a:prstGeom prst="roundRect">
            <a:avLst>
              <a:gd name="adj" fmla="val 7000"/>
            </a:avLst>
          </a:prstGeom>
          <a:solidFill>
            <a:srgbClr val="E3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10378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D4FC4"/>
                </a:solidFill>
                <a:latin typeface="Segoe UI"/>
              </a:rPr>
              <a:t>A parser becomes easier to trust when its decisions can be inspected.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37760"/>
            <a:ext cx="3515258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084064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GitHub 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449824"/>
            <a:ext cx="3149498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19" b="0" i="0">
                <a:solidFill>
                  <a:srgbClr val="4B5768"/>
                </a:solidFill>
                <a:latin typeface="Segoe UI"/>
              </a:rPr>
              <a:t>github.com/mahimaapriyadharshinis/Parse_Bench — full source, both frontends, 21 tests.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937760"/>
            <a:ext cx="3515258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1098" y="5084064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Live web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1098" y="5449824"/>
            <a:ext cx="3149498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19" b="0" i="0">
                <a:solidFill>
                  <a:srgbClr val="4B5768"/>
                </a:solidFill>
                <a:latin typeface="Segoe UI"/>
              </a:rPr>
              <a:t>frontend/react-app (npm run dev) or the zero-install frontend/parse_bench.html.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4937760"/>
            <a:ext cx="3515258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143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9236" y="5084064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827"/>
                </a:solidFill>
                <a:latin typeface="Segoe UI"/>
              </a:rPr>
              <a:t>Grammar specs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9236" y="5449824"/>
            <a:ext cx="3149498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19" b="0" i="0">
                <a:solidFill>
                  <a:srgbClr val="4B5768"/>
                </a:solidFill>
                <a:latin typeface="Segoe UI"/>
              </a:rPr>
              <a:t>GRAMMAR.md — EBNF, pure-BNF, and every computed FIRST/FOLLOW set.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E2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Segoe UI"/>
              </a:rPr>
              <a:t>School of Computer Science and Engineering, VIT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6492240"/>
            <a:ext cx="4690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93A3"/>
                </a:solidFill>
                <a:latin typeface="Consolas"/>
              </a:rPr>
              <a:t>Questions?   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